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 id="269" r:id="rId15"/>
    <p:sldId id="271" r:id="rId16"/>
    <p:sldId id="270" r:id="rId17"/>
    <p:sldId id="272" r:id="rId18"/>
    <p:sldId id="273" r:id="rId19"/>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24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87AF6-BAF3-E7B6-FF12-47EC7A2C5A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716D102-A29D-8547-AC15-B08FB32B5F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24F34730-AAF3-E969-446F-686760EBA623}"/>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0A12339C-9FED-16CA-C769-712E6B4E7100}"/>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DC566B1C-A585-B721-74C2-95B507573086}"/>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363592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47AC4-CD5F-A235-317E-7C3A2ACDD3A5}"/>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BACDF7E3-24C8-69E1-5EDC-485EDB19C2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6299C50-C2DF-DB6D-A838-71ED0C8B355C}"/>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265FBDB7-5121-14A9-E25E-4B116095E3F2}"/>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810A0F4-0DC2-283C-C5F3-F810B7034751}"/>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2180189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B937-A316-8E87-0E72-84F486A18B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98BDB471-0084-D214-0DC3-09F8AAD6B5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AF74EC-8161-74A6-0137-1E5713172816}"/>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085A0D17-B1C9-1647-9CE1-FC9D5904EEB4}"/>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8C5C9A26-751B-F510-3448-69F32771F915}"/>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167600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03F20-EB71-1B3A-2B36-23C50034356E}"/>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52ECBF1D-12E3-A97E-4B9E-DD134123CB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F0B2DD2B-A04F-93C2-945A-2E6FADC30D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8010B8C9-CDB9-7BD5-192F-AC6584B1D03D}"/>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6" name="Footer Placeholder 5">
            <a:extLst>
              <a:ext uri="{FF2B5EF4-FFF2-40B4-BE49-F238E27FC236}">
                <a16:creationId xmlns:a16="http://schemas.microsoft.com/office/drawing/2014/main" id="{08887DFF-A738-985C-5FC3-E514A675DB1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BBA920E6-B79D-C3A7-5123-310E8A9F7FE8}"/>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257054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0935-8517-C1C5-C054-F5010AAD805A}"/>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2963D305-69AC-0983-736B-F53D4B9AD7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6B3D3D-5F56-9AC0-CE9F-53006E12FA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A1DA66B7-D513-8E3E-478D-576BE6091D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B39B9C-1C14-489D-70E4-887C101909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38E3C01-088A-F324-1054-2747555F9428}"/>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8" name="Footer Placeholder 7">
            <a:extLst>
              <a:ext uri="{FF2B5EF4-FFF2-40B4-BE49-F238E27FC236}">
                <a16:creationId xmlns:a16="http://schemas.microsoft.com/office/drawing/2014/main" id="{E256464E-A638-61AB-8AFA-CC0B00E79FCF}"/>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27FA377F-08F3-7BF0-91CF-380190FF65B4}"/>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4090228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4D37-1531-EC72-C628-286D1B44DFBE}"/>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63D25E29-BD52-1C72-B11D-8993883B7B02}"/>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4" name="Footer Placeholder 3">
            <a:extLst>
              <a:ext uri="{FF2B5EF4-FFF2-40B4-BE49-F238E27FC236}">
                <a16:creationId xmlns:a16="http://schemas.microsoft.com/office/drawing/2014/main" id="{E52CD660-B4F2-DCCA-71AA-EAF29E376DD1}"/>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E8981EA9-0E99-3519-7156-6180DB1624C1}"/>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346515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59E132-43FE-D12E-00B5-43CB681B24BC}"/>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3" name="Footer Placeholder 2">
            <a:extLst>
              <a:ext uri="{FF2B5EF4-FFF2-40B4-BE49-F238E27FC236}">
                <a16:creationId xmlns:a16="http://schemas.microsoft.com/office/drawing/2014/main" id="{A98D18F3-7D23-38FE-BDF0-153933946E08}"/>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C800F317-3E32-9A57-2F6E-1457ECF5E205}"/>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406274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1E26-39A5-244E-6B20-0E442DAAA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948621B1-BB0C-540A-374A-D71A3891B8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DDA997D8-66EA-5BE9-B2D0-0DADB141E2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94D0B4-9F0B-7EB1-38E5-7802C2A64674}"/>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6" name="Footer Placeholder 5">
            <a:extLst>
              <a:ext uri="{FF2B5EF4-FFF2-40B4-BE49-F238E27FC236}">
                <a16:creationId xmlns:a16="http://schemas.microsoft.com/office/drawing/2014/main" id="{EA63F77D-15B5-9950-CB64-9459C64734E8}"/>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B2569662-F808-64B3-ED74-6AE31D7E4147}"/>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325648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450F6-4C2E-8FA6-17F0-DB313D5B5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C91A39C-292C-2B65-EC49-1FA28A7E35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7F171DDE-4594-5862-CFEB-E62F0C6835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76BFC8-B252-E8BB-6DFF-F9B3FC212470}"/>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6" name="Footer Placeholder 5">
            <a:extLst>
              <a:ext uri="{FF2B5EF4-FFF2-40B4-BE49-F238E27FC236}">
                <a16:creationId xmlns:a16="http://schemas.microsoft.com/office/drawing/2014/main" id="{E406232B-5304-748F-8602-5E85B028748E}"/>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C1AC5A76-1967-2845-F6AC-47ED37AE6CF8}"/>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1636920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DBFB-B4F3-1837-4694-5AD7589D2C0A}"/>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3730531E-7987-129B-E16D-8D8F55C13B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17D4D137-E6BD-567F-86EA-1ED7FB35456C}"/>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41AD8698-838A-979F-B3DA-D150BDD2A91B}"/>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47B213E-170D-3B17-818F-E8B702942DB5}"/>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3052591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1DB3D0-1110-34DD-8997-3C82786F29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1C8E3442-DD6B-402B-1EFC-D1FD483905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49F5673-A8EA-EC44-B365-869C94697D9A}"/>
              </a:ext>
            </a:extLst>
          </p:cNvPr>
          <p:cNvSpPr>
            <a:spLocks noGrp="1"/>
          </p:cNvSpPr>
          <p:nvPr>
            <p:ph type="dt" sz="half" idx="10"/>
          </p:nvPr>
        </p:nvSpPr>
        <p:spPr/>
        <p:txBody>
          <a:body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AF466BFC-EDE8-7B9A-B499-E206BEF6B706}"/>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44F4157-723F-1467-BB8B-7A56510BA0DA}"/>
              </a:ext>
            </a:extLst>
          </p:cNvPr>
          <p:cNvSpPr>
            <a:spLocks noGrp="1"/>
          </p:cNvSpPr>
          <p:nvPr>
            <p:ph type="sldNum" sz="quarter" idx="12"/>
          </p:nvPr>
        </p:nvSpPr>
        <p:spPr/>
        <p:txBody>
          <a:bodyPr/>
          <a:lstStyle/>
          <a:p>
            <a:fld id="{48941EF7-8D1D-40F7-9AE0-EA9106524194}" type="slidenum">
              <a:rPr lang="nb-NO" smtClean="0"/>
              <a:t>‹#›</a:t>
            </a:fld>
            <a:endParaRPr lang="nb-NO"/>
          </a:p>
        </p:txBody>
      </p:sp>
    </p:spTree>
    <p:extLst>
      <p:ext uri="{BB962C8B-B14F-4D97-AF65-F5344CB8AC3E}">
        <p14:creationId xmlns:p14="http://schemas.microsoft.com/office/powerpoint/2010/main" val="1778735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BF9441-EB85-4D6B-D173-41A2D57FC4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E410199-51DD-DAEE-CC99-8BF004B66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68D4EEF6-3523-E5A1-99E0-3B2D3A46D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542C2E-9BB1-434A-B458-B8BB191F4ABE}" type="datetimeFigureOut">
              <a:rPr lang="nb-NO" smtClean="0"/>
              <a:t>27.04.2026</a:t>
            </a:fld>
            <a:endParaRPr lang="nb-NO"/>
          </a:p>
        </p:txBody>
      </p:sp>
      <p:sp>
        <p:nvSpPr>
          <p:cNvPr id="5" name="Footer Placeholder 4">
            <a:extLst>
              <a:ext uri="{FF2B5EF4-FFF2-40B4-BE49-F238E27FC236}">
                <a16:creationId xmlns:a16="http://schemas.microsoft.com/office/drawing/2014/main" id="{0948CA2C-4436-BDCC-77D4-F2F9DA397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686C918C-B63E-57F9-2620-90F71DCBF5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941EF7-8D1D-40F7-9AE0-EA9106524194}" type="slidenum">
              <a:rPr lang="nb-NO" smtClean="0"/>
              <a:t>‹#›</a:t>
            </a:fld>
            <a:endParaRPr lang="nb-NO"/>
          </a:p>
        </p:txBody>
      </p:sp>
    </p:spTree>
    <p:extLst>
      <p:ext uri="{BB962C8B-B14F-4D97-AF65-F5344CB8AC3E}">
        <p14:creationId xmlns:p14="http://schemas.microsoft.com/office/powerpoint/2010/main" val="783386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1C22-1B45-7797-CF3D-4C6A2CE7AC97}"/>
              </a:ext>
            </a:extLst>
          </p:cNvPr>
          <p:cNvSpPr>
            <a:spLocks noGrp="1"/>
          </p:cNvSpPr>
          <p:nvPr>
            <p:ph type="ctrTitle"/>
          </p:nvPr>
        </p:nvSpPr>
        <p:spPr>
          <a:xfrm>
            <a:off x="1524000" y="1685580"/>
            <a:ext cx="9144000" cy="2387600"/>
          </a:xfrm>
        </p:spPr>
        <p:txBody>
          <a:bodyPr>
            <a:normAutofit fontScale="90000"/>
          </a:bodyPr>
          <a:lstStyle/>
          <a:p>
            <a:r>
              <a:rPr lang="en-US" sz="8000" dirty="0">
                <a:solidFill>
                  <a:schemeClr val="tx2">
                    <a:lumMod val="75000"/>
                    <a:lumOff val="25000"/>
                  </a:schemeClr>
                </a:solidFill>
              </a:rPr>
              <a:t>Workshop </a:t>
            </a:r>
            <a:br>
              <a:rPr lang="en-US" sz="8000" dirty="0">
                <a:solidFill>
                  <a:schemeClr val="tx2">
                    <a:lumMod val="75000"/>
                    <a:lumOff val="25000"/>
                  </a:schemeClr>
                </a:solidFill>
              </a:rPr>
            </a:br>
            <a:r>
              <a:rPr lang="en-US" sz="8000" dirty="0" err="1">
                <a:solidFill>
                  <a:schemeClr val="tx2">
                    <a:lumMod val="75000"/>
                    <a:lumOff val="25000"/>
                  </a:schemeClr>
                </a:solidFill>
              </a:rPr>
              <a:t>Produktsemantikk</a:t>
            </a:r>
            <a:br>
              <a:rPr lang="en-US" dirty="0">
                <a:solidFill>
                  <a:schemeClr val="tx2">
                    <a:lumMod val="75000"/>
                    <a:lumOff val="25000"/>
                  </a:schemeClr>
                </a:solidFill>
              </a:rPr>
            </a:br>
            <a:endParaRPr lang="nb-NO" dirty="0">
              <a:solidFill>
                <a:schemeClr val="tx2">
                  <a:lumMod val="75000"/>
                  <a:lumOff val="25000"/>
                </a:schemeClr>
              </a:solidFill>
            </a:endParaRPr>
          </a:p>
        </p:txBody>
      </p:sp>
      <p:sp>
        <p:nvSpPr>
          <p:cNvPr id="3" name="Subtitle 2">
            <a:extLst>
              <a:ext uri="{FF2B5EF4-FFF2-40B4-BE49-F238E27FC236}">
                <a16:creationId xmlns:a16="http://schemas.microsoft.com/office/drawing/2014/main" id="{4BA60865-B8C2-F823-2C5F-CA98FA6D1CF6}"/>
              </a:ext>
            </a:extLst>
          </p:cNvPr>
          <p:cNvSpPr>
            <a:spLocks noGrp="1"/>
          </p:cNvSpPr>
          <p:nvPr>
            <p:ph type="subTitle" idx="1"/>
          </p:nvPr>
        </p:nvSpPr>
        <p:spPr/>
        <p:txBody>
          <a:bodyPr/>
          <a:lstStyle/>
          <a:p>
            <a:r>
              <a:rPr lang="nb-NO" b="1" dirty="0">
                <a:solidFill>
                  <a:schemeClr val="tx2">
                    <a:lumMod val="75000"/>
                    <a:lumOff val="25000"/>
                  </a:schemeClr>
                </a:solidFill>
              </a:rPr>
              <a:t>En øvelse i produktsemantikk </a:t>
            </a:r>
            <a:endParaRPr lang="nb-NO" dirty="0">
              <a:solidFill>
                <a:schemeClr val="tx2">
                  <a:lumMod val="75000"/>
                  <a:lumOff val="25000"/>
                </a:schemeClr>
              </a:solidFill>
            </a:endParaRPr>
          </a:p>
          <a:p>
            <a:r>
              <a:rPr lang="nb-NO" b="1" dirty="0">
                <a:solidFill>
                  <a:schemeClr val="tx2">
                    <a:lumMod val="75000"/>
                    <a:lumOff val="25000"/>
                  </a:schemeClr>
                </a:solidFill>
              </a:rPr>
              <a:t>– hvordan forklare betjening gjennom form?</a:t>
            </a:r>
            <a:endParaRPr lang="nb-NO" dirty="0">
              <a:solidFill>
                <a:schemeClr val="tx2">
                  <a:lumMod val="75000"/>
                  <a:lumOff val="25000"/>
                </a:schemeClr>
              </a:solidFill>
            </a:endParaRPr>
          </a:p>
          <a:p>
            <a:endParaRPr lang="nb-NO" dirty="0"/>
          </a:p>
        </p:txBody>
      </p:sp>
    </p:spTree>
    <p:extLst>
      <p:ext uri="{BB962C8B-B14F-4D97-AF65-F5344CB8AC3E}">
        <p14:creationId xmlns:p14="http://schemas.microsoft.com/office/powerpoint/2010/main" val="2679545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521A-2AB4-6973-3459-F4CCFB032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07EE7-3C22-4620-E867-666504D5690D}"/>
              </a:ext>
            </a:extLst>
          </p:cNvPr>
          <p:cNvSpPr>
            <a:spLocks noGrp="1"/>
          </p:cNvSpPr>
          <p:nvPr>
            <p:ph type="ctrTitle"/>
          </p:nvPr>
        </p:nvSpPr>
        <p:spPr>
          <a:xfrm>
            <a:off x="1524000" y="1685580"/>
            <a:ext cx="9144000" cy="2387600"/>
          </a:xfrm>
        </p:spPr>
        <p:txBody>
          <a:bodyPr>
            <a:normAutofit/>
          </a:bodyPr>
          <a:lstStyle/>
          <a:p>
            <a:br>
              <a:rPr lang="en-US" dirty="0">
                <a:solidFill>
                  <a:schemeClr val="tx2">
                    <a:lumMod val="75000"/>
                    <a:lumOff val="25000"/>
                  </a:schemeClr>
                </a:solidFill>
              </a:rPr>
            </a:br>
            <a:endParaRPr lang="nb-NO" dirty="0">
              <a:solidFill>
                <a:schemeClr val="tx2">
                  <a:lumMod val="75000"/>
                  <a:lumOff val="25000"/>
                </a:schemeClr>
              </a:solidFill>
            </a:endParaRPr>
          </a:p>
        </p:txBody>
      </p:sp>
      <p:sp>
        <p:nvSpPr>
          <p:cNvPr id="5" name="TextBox 4">
            <a:extLst>
              <a:ext uri="{FF2B5EF4-FFF2-40B4-BE49-F238E27FC236}">
                <a16:creationId xmlns:a16="http://schemas.microsoft.com/office/drawing/2014/main" id="{D7CC0FCB-0720-A36F-2A64-0AB529867146}"/>
              </a:ext>
            </a:extLst>
          </p:cNvPr>
          <p:cNvSpPr txBox="1"/>
          <p:nvPr/>
        </p:nvSpPr>
        <p:spPr>
          <a:xfrm>
            <a:off x="1417982" y="923598"/>
            <a:ext cx="9144001" cy="3267689"/>
          </a:xfrm>
          <a:prstGeom prst="rect">
            <a:avLst/>
          </a:prstGeom>
          <a:noFill/>
        </p:spPr>
        <p:txBody>
          <a:bodyPr wrap="square">
            <a:spAutoFit/>
          </a:bodyPr>
          <a:lstStyle/>
          <a:p>
            <a:pPr>
              <a:lnSpc>
                <a:spcPct val="107000"/>
              </a:lnSpc>
              <a:spcAft>
                <a:spcPts val="800"/>
              </a:spcAft>
              <a:buNone/>
            </a:pPr>
            <a:r>
              <a:rPr lang="nb-NO" sz="28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Hva kan vi lære av brukertesten i bil?</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Som en konsekvens av at teknologien blir mer og mer avansert, og utvikler seg i retning av mer og mer skjermbaserte, og derved navigasjonsbaserte </a:t>
            </a:r>
            <a:r>
              <a:rPr lang="nb-NO" sz="1600" kern="0" dirty="0" err="1">
                <a:solidFill>
                  <a:srgbClr val="373737"/>
                </a:solidFill>
                <a:effectLst/>
                <a:ea typeface="Times New Roman" panose="02020603050405020304" pitchFamily="18" charset="0"/>
                <a:cs typeface="Times New Roman" panose="02020603050405020304" pitchFamily="18" charset="0"/>
              </a:rPr>
              <a:t>betjeningmønstre</a:t>
            </a:r>
            <a:r>
              <a:rPr lang="nb-NO" sz="1600" kern="0" dirty="0">
                <a:solidFill>
                  <a:srgbClr val="373737"/>
                </a:solidFill>
                <a:effectLst/>
                <a:ea typeface="Times New Roman" panose="02020603050405020304" pitchFamily="18" charset="0"/>
                <a:cs typeface="Times New Roman" panose="02020603050405020304" pitchFamily="18" charset="0"/>
              </a:rPr>
              <a:t>, må vi vite hvordan mennesket – brukeren – agerer i møtet med ulike typer betjeningsorganer. </a:t>
            </a:r>
          </a:p>
          <a:p>
            <a:pPr>
              <a:lnSpc>
                <a:spcPct val="107000"/>
              </a:lnSpc>
              <a:spcAft>
                <a:spcPts val="800"/>
              </a:spcAft>
              <a:buNone/>
            </a:pP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Vi skiller mellom to hovedtyper brukergrensesnitt:</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600" b="1" i="1" kern="0" dirty="0">
                <a:solidFill>
                  <a:srgbClr val="373737"/>
                </a:solidFill>
                <a:effectLst/>
                <a:ea typeface="Times New Roman" panose="02020603050405020304" pitchFamily="18" charset="0"/>
                <a:cs typeface="Times New Roman" panose="02020603050405020304" pitchFamily="18" charset="0"/>
              </a:rPr>
              <a:t>• analoge (fysiske)</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600" i="1" kern="0" dirty="0">
                <a:solidFill>
                  <a:srgbClr val="373737"/>
                </a:solidFill>
                <a:effectLst/>
                <a:ea typeface="Times New Roman" panose="02020603050405020304" pitchFamily="18" charset="0"/>
                <a:cs typeface="Times New Roman" panose="02020603050405020304" pitchFamily="18" charset="0"/>
              </a:rPr>
              <a:t>og </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600" b="1" i="1" kern="0" dirty="0">
                <a:solidFill>
                  <a:srgbClr val="373737"/>
                </a:solidFill>
                <a:effectLst/>
                <a:ea typeface="Times New Roman" panose="02020603050405020304" pitchFamily="18" charset="0"/>
                <a:cs typeface="Times New Roman" panose="02020603050405020304" pitchFamily="18" charset="0"/>
              </a:rPr>
              <a:t>• digitale (skjermbaserte)</a:t>
            </a:r>
            <a:endParaRPr lang="nb-NO"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74058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BB90-28B5-8E51-7314-6337BFC9B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DE43C-5B73-F566-03CE-0ED74DAA8B77}"/>
              </a:ext>
            </a:extLst>
          </p:cNvPr>
          <p:cNvSpPr>
            <a:spLocks noGrp="1"/>
          </p:cNvSpPr>
          <p:nvPr>
            <p:ph type="ctrTitle"/>
          </p:nvPr>
        </p:nvSpPr>
        <p:spPr>
          <a:xfrm>
            <a:off x="1524000" y="1685580"/>
            <a:ext cx="9144000" cy="2387600"/>
          </a:xfrm>
        </p:spPr>
        <p:txBody>
          <a:bodyPr>
            <a:normAutofit/>
          </a:bodyPr>
          <a:lstStyle/>
          <a:p>
            <a:br>
              <a:rPr lang="en-US" dirty="0">
                <a:solidFill>
                  <a:schemeClr val="tx2">
                    <a:lumMod val="75000"/>
                    <a:lumOff val="25000"/>
                  </a:schemeClr>
                </a:solidFill>
              </a:rPr>
            </a:br>
            <a:endParaRPr lang="nb-NO" dirty="0">
              <a:solidFill>
                <a:schemeClr val="tx2">
                  <a:lumMod val="75000"/>
                  <a:lumOff val="25000"/>
                </a:schemeClr>
              </a:solidFill>
            </a:endParaRPr>
          </a:p>
        </p:txBody>
      </p:sp>
      <p:sp>
        <p:nvSpPr>
          <p:cNvPr id="5" name="TextBox 4">
            <a:extLst>
              <a:ext uri="{FF2B5EF4-FFF2-40B4-BE49-F238E27FC236}">
                <a16:creationId xmlns:a16="http://schemas.microsoft.com/office/drawing/2014/main" id="{E9092CB7-47D2-0B1B-5AF8-C0A66E4ACC97}"/>
              </a:ext>
            </a:extLst>
          </p:cNvPr>
          <p:cNvSpPr txBox="1"/>
          <p:nvPr/>
        </p:nvSpPr>
        <p:spPr>
          <a:xfrm>
            <a:off x="1444488" y="406763"/>
            <a:ext cx="8183215" cy="4149341"/>
          </a:xfrm>
          <a:prstGeom prst="rect">
            <a:avLst/>
          </a:prstGeom>
          <a:noFill/>
        </p:spPr>
        <p:txBody>
          <a:bodyPr wrap="square">
            <a:spAutoFit/>
          </a:bodyPr>
          <a:lstStyle/>
          <a:p>
            <a:pPr>
              <a:lnSpc>
                <a:spcPct val="107000"/>
              </a:lnSpc>
              <a:spcAft>
                <a:spcPts val="800"/>
              </a:spcAft>
              <a:buNone/>
            </a:pPr>
            <a:endParaRPr lang="nb-NO" sz="1400" kern="0" dirty="0">
              <a:solidFill>
                <a:srgbClr val="373737"/>
              </a:solidFill>
              <a:effectLst/>
              <a:ea typeface="Times New Roman" panose="02020603050405020304" pitchFamily="18" charset="0"/>
              <a:cs typeface="Times New Roman" panose="02020603050405020304" pitchFamily="18" charset="0"/>
            </a:endParaRP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Kort fortalt viser denne testen at mennesket </a:t>
            </a:r>
            <a:r>
              <a:rPr lang="nb-NO" sz="1600" i="1" kern="0" dirty="0">
                <a:solidFill>
                  <a:srgbClr val="373737"/>
                </a:solidFill>
                <a:effectLst/>
                <a:highlight>
                  <a:srgbClr val="FFFF00"/>
                </a:highlight>
                <a:ea typeface="Times New Roman" panose="02020603050405020304" pitchFamily="18" charset="0"/>
                <a:cs typeface="Times New Roman" panose="02020603050405020304" pitchFamily="18" charset="0"/>
              </a:rPr>
              <a:t>agerer mer naturlig, og derved raskere</a:t>
            </a:r>
            <a:r>
              <a:rPr lang="nb-NO" sz="1600" kern="0" dirty="0">
                <a:solidFill>
                  <a:srgbClr val="373737"/>
                </a:solidFill>
                <a:effectLst/>
                <a:highlight>
                  <a:srgbClr val="FFFF00"/>
                </a:highlight>
                <a:ea typeface="Times New Roman" panose="02020603050405020304" pitchFamily="18" charset="0"/>
                <a:cs typeface="Times New Roman" panose="02020603050405020304" pitchFamily="18" charset="0"/>
              </a:rPr>
              <a:t> på </a:t>
            </a:r>
            <a:r>
              <a:rPr lang="nb-NO" sz="1600" i="1" kern="0" dirty="0">
                <a:solidFill>
                  <a:srgbClr val="373737"/>
                </a:solidFill>
                <a:effectLst/>
                <a:highlight>
                  <a:srgbClr val="FFFF00"/>
                </a:highlight>
                <a:ea typeface="Times New Roman" panose="02020603050405020304" pitchFamily="18" charset="0"/>
                <a:cs typeface="Times New Roman" panose="02020603050405020304" pitchFamily="18" charset="0"/>
              </a:rPr>
              <a:t>fysiske omgivelser</a:t>
            </a:r>
            <a:r>
              <a:rPr lang="nb-NO" sz="1600" kern="0" dirty="0">
                <a:solidFill>
                  <a:srgbClr val="373737"/>
                </a:solidFill>
                <a:effectLst/>
                <a:highlight>
                  <a:srgbClr val="FFFF00"/>
                </a:highlight>
                <a:ea typeface="Times New Roman" panose="02020603050405020304" pitchFamily="18" charset="0"/>
                <a:cs typeface="Times New Roman" panose="02020603050405020304" pitchFamily="18" charset="0"/>
              </a:rPr>
              <a:t> (analoge, naturlige omgivelser’), enn digitale omgivelser </a:t>
            </a:r>
            <a:r>
              <a:rPr lang="nb-NO" sz="1600" kern="0" dirty="0">
                <a:solidFill>
                  <a:srgbClr val="373737"/>
                </a:solidFill>
                <a:effectLst/>
                <a:ea typeface="Times New Roman" panose="02020603050405020304" pitchFamily="18" charset="0"/>
                <a:cs typeface="Times New Roman" panose="02020603050405020304" pitchFamily="18" charset="0"/>
              </a:rPr>
              <a:t>- som fordrer navigasjon (‘kunstige omgivelser’), fordi menneskelig intuisjon lettere tilrettelegges gjennom fysiske omgivelser. </a:t>
            </a: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Designerens oppgave er å uforme denne samhandlingen til å bli mest mulig intuitiv og tilrettelagt for en enkel, forståelig og ukomplisert betjening.</a:t>
            </a: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I GK4 skal vi blant annet lære om hvordan brukere interagerer med de fysiske betjeningsorganer som er integrert i et fysisk produkt med en viss funksjonell kompleksitet. I denne type produkter er det naturlig med flerfunksjonalitet, dvs. en kombinasjon av flere ulike funksjoner med ulik viktighetsgrad eller prioritet.</a:t>
            </a: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For å forstå hvordan brukeren agerer i forhold til de fysiske betjeningsorganenes utforming, skal vi øve på å forstå og utforme ulike fysiske betjeningsorganer. Disse fordrer ulik typer respons, og derved ulike typer handlinger fra brukerens side.</a:t>
            </a:r>
            <a:endParaRPr lang="nb-NO"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29426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98346-048B-39E7-6CC0-440E16332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E8115-0421-F188-7E79-B4F7211DF779}"/>
              </a:ext>
            </a:extLst>
          </p:cNvPr>
          <p:cNvSpPr>
            <a:spLocks noGrp="1"/>
          </p:cNvSpPr>
          <p:nvPr>
            <p:ph type="ctrTitle"/>
          </p:nvPr>
        </p:nvSpPr>
        <p:spPr>
          <a:xfrm>
            <a:off x="1524000" y="1685580"/>
            <a:ext cx="9144000" cy="2387600"/>
          </a:xfrm>
        </p:spPr>
        <p:txBody>
          <a:bodyPr>
            <a:normAutofit/>
          </a:bodyPr>
          <a:lstStyle/>
          <a:p>
            <a:br>
              <a:rPr lang="en-US" dirty="0">
                <a:solidFill>
                  <a:schemeClr val="tx2">
                    <a:lumMod val="75000"/>
                    <a:lumOff val="25000"/>
                  </a:schemeClr>
                </a:solidFill>
              </a:rPr>
            </a:br>
            <a:endParaRPr lang="nb-NO" dirty="0">
              <a:solidFill>
                <a:schemeClr val="tx2">
                  <a:lumMod val="75000"/>
                  <a:lumOff val="25000"/>
                </a:schemeClr>
              </a:solidFill>
            </a:endParaRPr>
          </a:p>
        </p:txBody>
      </p:sp>
      <p:sp>
        <p:nvSpPr>
          <p:cNvPr id="4" name="TextBox 3">
            <a:extLst>
              <a:ext uri="{FF2B5EF4-FFF2-40B4-BE49-F238E27FC236}">
                <a16:creationId xmlns:a16="http://schemas.microsoft.com/office/drawing/2014/main" id="{BD882C96-C166-4526-B691-16845A9F9D79}"/>
              </a:ext>
            </a:extLst>
          </p:cNvPr>
          <p:cNvSpPr txBox="1"/>
          <p:nvPr/>
        </p:nvSpPr>
        <p:spPr>
          <a:xfrm>
            <a:off x="1782417" y="377363"/>
            <a:ext cx="9488557" cy="4321568"/>
          </a:xfrm>
          <a:prstGeom prst="rect">
            <a:avLst/>
          </a:prstGeom>
          <a:noFill/>
        </p:spPr>
        <p:txBody>
          <a:bodyPr wrap="square">
            <a:spAutoFit/>
          </a:bodyPr>
          <a:lstStyle/>
          <a:p>
            <a:pPr>
              <a:lnSpc>
                <a:spcPct val="107000"/>
              </a:lnSpc>
              <a:spcAft>
                <a:spcPts val="800"/>
              </a:spcAft>
              <a:buNone/>
            </a:pPr>
            <a:r>
              <a:rPr lang="nb-NO" sz="28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Hva er et betjeningsorgan?</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Som en innledning til designprosjektet </a:t>
            </a:r>
            <a:r>
              <a:rPr lang="nb-NO" sz="1600" kern="0" dirty="0" err="1">
                <a:solidFill>
                  <a:srgbClr val="373737"/>
                </a:solidFill>
                <a:ea typeface="Times New Roman" panose="02020603050405020304" pitchFamily="18" charset="0"/>
                <a:cs typeface="Times New Roman" panose="02020603050405020304" pitchFamily="18" charset="0"/>
              </a:rPr>
              <a:t>elskrutrekker</a:t>
            </a:r>
            <a:r>
              <a:rPr lang="nb-NO" sz="1600" kern="0" dirty="0">
                <a:solidFill>
                  <a:srgbClr val="373737"/>
                </a:solidFill>
                <a:effectLst/>
                <a:ea typeface="Times New Roman" panose="02020603050405020304" pitchFamily="18" charset="0"/>
                <a:cs typeface="Times New Roman" panose="02020603050405020304" pitchFamily="18" charset="0"/>
              </a:rPr>
              <a:t>, skal vi øve på tre helt elementære betjeningsmønstre. Disse er funksjoner som er helt grunnleggende for all interaksjon, uansett om denne er analog, dvs. fysisk, eller digital, på skjerm.</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pPr>
            <a:endParaRPr lang="nb-NO" sz="1600" kern="0" dirty="0">
              <a:solidFill>
                <a:srgbClr val="373737"/>
              </a:solidFill>
              <a:effectLst/>
              <a:ea typeface="Times New Roman" panose="02020603050405020304" pitchFamily="18" charset="0"/>
              <a:cs typeface="Times New Roman" panose="02020603050405020304" pitchFamily="18" charset="0"/>
            </a:endParaRPr>
          </a:p>
          <a:p>
            <a:pPr>
              <a:lnSpc>
                <a:spcPct val="107000"/>
              </a:lnSpc>
              <a:spcAft>
                <a:spcPts val="800"/>
              </a:spcAft>
              <a:buNone/>
            </a:pPr>
            <a:r>
              <a:rPr lang="nb-NO" sz="1600" kern="0" dirty="0">
                <a:solidFill>
                  <a:srgbClr val="373737"/>
                </a:solidFill>
                <a:effectLst/>
                <a:ea typeface="Times New Roman" panose="02020603050405020304" pitchFamily="18" charset="0"/>
                <a:cs typeface="Times New Roman" panose="02020603050405020304" pitchFamily="18" charset="0"/>
              </a:rPr>
              <a:t>Disse er: </a:t>
            </a:r>
            <a:r>
              <a:rPr lang="nb-NO" sz="1600" b="1" kern="0" dirty="0">
                <a:solidFill>
                  <a:srgbClr val="373737"/>
                </a:solidFill>
                <a:effectLst/>
                <a:highlight>
                  <a:srgbClr val="FFFF00"/>
                </a:highlight>
                <a:ea typeface="Times New Roman" panose="02020603050405020304" pitchFamily="18" charset="0"/>
                <a:cs typeface="Times New Roman" panose="02020603050405020304" pitchFamily="18" charset="0"/>
              </a:rPr>
              <a:t>trykke – skyve – vri</a:t>
            </a:r>
            <a:endParaRPr lang="nb-NO" sz="1600" kern="100" dirty="0">
              <a:effectLst/>
              <a:highlight>
                <a:srgbClr val="FFFF00"/>
              </a:highlight>
              <a:ea typeface="Aptos" panose="020B0004020202020204" pitchFamily="34" charset="0"/>
              <a:cs typeface="Times New Roman" panose="02020603050405020304" pitchFamily="18" charset="0"/>
            </a:endParaRPr>
          </a:p>
          <a:p>
            <a:pPr>
              <a:lnSpc>
                <a:spcPct val="107000"/>
              </a:lnSpc>
              <a:spcAft>
                <a:spcPts val="800"/>
              </a:spcAft>
              <a:buNone/>
            </a:pPr>
            <a:endParaRPr lang="nb-NO" sz="1600" u="sng" kern="100" dirty="0">
              <a:solidFill>
                <a:srgbClr val="363636"/>
              </a:solidFill>
              <a:effectLst/>
              <a:ea typeface="Aptos" panose="020B0004020202020204" pitchFamily="34" charset="0"/>
              <a:cs typeface="Times New Roman" panose="02020603050405020304" pitchFamily="18" charset="0"/>
            </a:endParaRPr>
          </a:p>
          <a:p>
            <a:pPr>
              <a:lnSpc>
                <a:spcPct val="107000"/>
              </a:lnSpc>
              <a:spcAft>
                <a:spcPts val="800"/>
              </a:spcAft>
              <a:buNone/>
            </a:pPr>
            <a:r>
              <a:rPr lang="nb-NO" sz="1600" u="sng" kern="100" dirty="0">
                <a:solidFill>
                  <a:srgbClr val="363636"/>
                </a:solidFill>
                <a:ea typeface="Aptos" panose="020B0004020202020204" pitchFamily="34" charset="0"/>
                <a:cs typeface="Times New Roman" panose="02020603050405020304" pitchFamily="18" charset="0"/>
              </a:rPr>
              <a:t>Vanlige t</a:t>
            </a:r>
            <a:r>
              <a:rPr lang="nb-NO" sz="1600" u="sng" kern="100" dirty="0">
                <a:solidFill>
                  <a:srgbClr val="363636"/>
                </a:solidFill>
                <a:effectLst/>
                <a:ea typeface="Aptos" panose="020B0004020202020204" pitchFamily="34" charset="0"/>
                <a:cs typeface="Times New Roman" panose="02020603050405020304" pitchFamily="18" charset="0"/>
              </a:rPr>
              <a:t>yper av betjeningsorganer:</a:t>
            </a:r>
            <a:endParaRPr lang="nb-NO" sz="1600" kern="100" dirty="0">
              <a:effectLst/>
              <a:ea typeface="Aptos" panose="020B0004020202020204" pitchFamily="34" charset="0"/>
              <a:cs typeface="Times New Roman" panose="02020603050405020304" pitchFamily="18" charset="0"/>
            </a:endParaRPr>
          </a:p>
          <a:p>
            <a:pPr lvl="0">
              <a:lnSpc>
                <a:spcPct val="107000"/>
              </a:lnSpc>
              <a:buClr>
                <a:srgbClr val="363636"/>
              </a:buClr>
              <a:buSzPts val="1050"/>
            </a:pPr>
            <a:r>
              <a:rPr lang="nb-NO" sz="1600" kern="100" dirty="0">
                <a:solidFill>
                  <a:srgbClr val="363636"/>
                </a:solidFill>
                <a:effectLst/>
                <a:ea typeface="Aptos" panose="020B0004020202020204" pitchFamily="34" charset="0"/>
                <a:cs typeface="Times New Roman" panose="02020603050405020304" pitchFamily="18" charset="0"/>
              </a:rPr>
              <a:t>- brytere </a:t>
            </a:r>
            <a:endParaRPr lang="nb-NO" sz="1600" kern="100" dirty="0">
              <a:effectLst/>
              <a:ea typeface="Aptos" panose="020B0004020202020204" pitchFamily="34" charset="0"/>
              <a:cs typeface="Times New Roman" panose="02020603050405020304" pitchFamily="18" charset="0"/>
            </a:endParaRPr>
          </a:p>
          <a:p>
            <a:pPr lvl="0">
              <a:lnSpc>
                <a:spcPct val="107000"/>
              </a:lnSpc>
              <a:buClr>
                <a:srgbClr val="363636"/>
              </a:buClr>
              <a:buSzPts val="1050"/>
            </a:pPr>
            <a:r>
              <a:rPr lang="nb-NO" sz="1600" kern="100" dirty="0">
                <a:solidFill>
                  <a:srgbClr val="363636"/>
                </a:solidFill>
                <a:effectLst/>
                <a:ea typeface="Aptos" panose="020B0004020202020204" pitchFamily="34" charset="0"/>
                <a:cs typeface="Times New Roman" panose="02020603050405020304" pitchFamily="18" charset="0"/>
              </a:rPr>
              <a:t>- hendler </a:t>
            </a:r>
            <a:endParaRPr lang="nb-NO" sz="1600" kern="100" dirty="0">
              <a:effectLst/>
              <a:ea typeface="Aptos" panose="020B0004020202020204" pitchFamily="34" charset="0"/>
              <a:cs typeface="Times New Roman" panose="02020603050405020304" pitchFamily="18" charset="0"/>
            </a:endParaRPr>
          </a:p>
          <a:p>
            <a:pPr lvl="0">
              <a:lnSpc>
                <a:spcPct val="107000"/>
              </a:lnSpc>
              <a:buClr>
                <a:srgbClr val="363636"/>
              </a:buClr>
              <a:buSzPts val="1050"/>
            </a:pPr>
            <a:r>
              <a:rPr lang="nb-NO" sz="1600" kern="100" dirty="0">
                <a:solidFill>
                  <a:srgbClr val="363636"/>
                </a:solidFill>
                <a:effectLst/>
                <a:ea typeface="Aptos" panose="020B0004020202020204" pitchFamily="34" charset="0"/>
                <a:cs typeface="Times New Roman" panose="02020603050405020304" pitchFamily="18" charset="0"/>
              </a:rPr>
              <a:t>- spaker</a:t>
            </a:r>
            <a:endParaRPr lang="nb-NO" sz="1600" kern="100" dirty="0">
              <a:effectLst/>
              <a:ea typeface="Aptos" panose="020B0004020202020204" pitchFamily="34" charset="0"/>
              <a:cs typeface="Times New Roman" panose="02020603050405020304" pitchFamily="18" charset="0"/>
            </a:endParaRPr>
          </a:p>
          <a:p>
            <a:pPr lvl="0">
              <a:lnSpc>
                <a:spcPct val="107000"/>
              </a:lnSpc>
              <a:buClr>
                <a:srgbClr val="363636"/>
              </a:buClr>
              <a:buSzPts val="1050"/>
            </a:pPr>
            <a:r>
              <a:rPr lang="nb-NO" sz="1600" kern="100" dirty="0">
                <a:solidFill>
                  <a:srgbClr val="363636"/>
                </a:solidFill>
                <a:effectLst/>
                <a:ea typeface="Aptos" panose="020B0004020202020204" pitchFamily="34" charset="0"/>
                <a:cs typeface="Times New Roman" panose="02020603050405020304" pitchFamily="18" charset="0"/>
              </a:rPr>
              <a:t>- håndtak</a:t>
            </a:r>
            <a:endParaRPr lang="nb-NO" sz="1600" kern="100" dirty="0">
              <a:effectLst/>
              <a:ea typeface="Aptos" panose="020B0004020202020204" pitchFamily="34" charset="0"/>
              <a:cs typeface="Times New Roman" panose="02020603050405020304" pitchFamily="18" charset="0"/>
            </a:endParaRPr>
          </a:p>
          <a:p>
            <a:pPr lvl="0">
              <a:lnSpc>
                <a:spcPct val="107000"/>
              </a:lnSpc>
              <a:spcAft>
                <a:spcPts val="800"/>
              </a:spcAft>
              <a:buClr>
                <a:srgbClr val="363636"/>
              </a:buClr>
              <a:buSzPts val="1050"/>
            </a:pPr>
            <a:r>
              <a:rPr lang="nb-NO" sz="1600" kern="100" dirty="0">
                <a:solidFill>
                  <a:srgbClr val="363636"/>
                </a:solidFill>
                <a:effectLst/>
                <a:ea typeface="Aptos" panose="020B0004020202020204" pitchFamily="34" charset="0"/>
                <a:cs typeface="Times New Roman" panose="02020603050405020304" pitchFamily="18" charset="0"/>
              </a:rPr>
              <a:t>- ratt</a:t>
            </a:r>
            <a:endParaRPr lang="nb-NO"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8722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4CC3-EF36-B6A3-7D4E-29B025BBBC76}"/>
            </a:ext>
          </a:extLst>
        </p:cNvPr>
        <p:cNvGrpSpPr/>
        <p:nvPr/>
      </p:nvGrpSpPr>
      <p:grpSpPr>
        <a:xfrm>
          <a:off x="0" y="0"/>
          <a:ext cx="0" cy="0"/>
          <a:chOff x="0" y="0"/>
          <a:chExt cx="0" cy="0"/>
        </a:xfrm>
      </p:grpSpPr>
      <p:pic>
        <p:nvPicPr>
          <p:cNvPr id="3" name="Picture 2" descr="Close-up of a sound board&#10;&#10;Description automatically generated">
            <a:extLst>
              <a:ext uri="{FF2B5EF4-FFF2-40B4-BE49-F238E27FC236}">
                <a16:creationId xmlns:a16="http://schemas.microsoft.com/office/drawing/2014/main" id="{7FC92115-C587-D083-09F7-A46FFA20A9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8748" y="777171"/>
            <a:ext cx="7472277" cy="5603823"/>
          </a:xfrm>
          <a:prstGeom prst="rect">
            <a:avLst/>
          </a:prstGeom>
          <a:noFill/>
          <a:ln>
            <a:noFill/>
          </a:ln>
        </p:spPr>
      </p:pic>
      <p:sp>
        <p:nvSpPr>
          <p:cNvPr id="6" name="TextBox 5">
            <a:extLst>
              <a:ext uri="{FF2B5EF4-FFF2-40B4-BE49-F238E27FC236}">
                <a16:creationId xmlns:a16="http://schemas.microsoft.com/office/drawing/2014/main" id="{2A774B59-5BC2-6CF7-E89C-259C2341F660}"/>
              </a:ext>
            </a:extLst>
          </p:cNvPr>
          <p:cNvSpPr txBox="1"/>
          <p:nvPr/>
        </p:nvSpPr>
        <p:spPr>
          <a:xfrm>
            <a:off x="8514521" y="777171"/>
            <a:ext cx="3458818" cy="1398460"/>
          </a:xfrm>
          <a:prstGeom prst="rect">
            <a:avLst/>
          </a:prstGeom>
          <a:noFill/>
        </p:spPr>
        <p:txBody>
          <a:bodyPr wrap="square">
            <a:spAutoFit/>
          </a:bodyPr>
          <a:lstStyle/>
          <a:p>
            <a:pPr>
              <a:lnSpc>
                <a:spcPct val="107000"/>
              </a:lnSpc>
              <a:spcAft>
                <a:spcPts val="800"/>
              </a:spcAft>
              <a:buNone/>
            </a:pPr>
            <a:r>
              <a:rPr lang="nb-NO" sz="16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Eksempel på et rikt utvalg av ulike typer betjeningsorganer – gruppert ut i fra ulike funksjoner og ulike behov for betjening / interaksjon mellom bruker og maskin.</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9669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0010-1BC7-D93B-68CF-D066AAE52524}"/>
            </a:ext>
          </a:extLst>
        </p:cNvPr>
        <p:cNvGrpSpPr/>
        <p:nvPr/>
      </p:nvGrpSpPr>
      <p:grpSpPr>
        <a:xfrm>
          <a:off x="0" y="0"/>
          <a:ext cx="0" cy="0"/>
          <a:chOff x="0" y="0"/>
          <a:chExt cx="0" cy="0"/>
        </a:xfrm>
      </p:grpSpPr>
      <p:pic>
        <p:nvPicPr>
          <p:cNvPr id="2" name="Picture 1" descr="A black and silver pedal&#10;&#10;Description automatically generated">
            <a:extLst>
              <a:ext uri="{FF2B5EF4-FFF2-40B4-BE49-F238E27FC236}">
                <a16:creationId xmlns:a16="http://schemas.microsoft.com/office/drawing/2014/main" id="{C7C06D56-F8EB-D224-1D97-3E2A12D26BB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935" t="2410" r="34125" b="-2410"/>
          <a:stretch/>
        </p:blipFill>
        <p:spPr bwMode="auto">
          <a:xfrm>
            <a:off x="2059333" y="86139"/>
            <a:ext cx="3152863" cy="6502840"/>
          </a:xfrm>
          <a:prstGeom prst="rect">
            <a:avLst/>
          </a:prstGeom>
          <a:noFill/>
          <a:ln>
            <a:noFill/>
          </a:ln>
          <a:extLst>
            <a:ext uri="{53640926-AAD7-44D8-BBD7-CCE9431645EC}">
              <a14:shadowObscured xmlns:a14="http://schemas.microsoft.com/office/drawing/2010/main"/>
            </a:ext>
          </a:extLst>
        </p:spPr>
      </p:pic>
      <p:pic>
        <p:nvPicPr>
          <p:cNvPr id="4" name="Picture 3" descr="A close-up of a faucet handle&#10;&#10;Description automatically generated">
            <a:extLst>
              <a:ext uri="{FF2B5EF4-FFF2-40B4-BE49-F238E27FC236}">
                <a16:creationId xmlns:a16="http://schemas.microsoft.com/office/drawing/2014/main" id="{3416A41C-EECB-07D7-56DE-8B36E19548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70104" y="1184137"/>
            <a:ext cx="4729646" cy="4729646"/>
          </a:xfrm>
          <a:prstGeom prst="rect">
            <a:avLst/>
          </a:prstGeom>
          <a:noFill/>
          <a:ln>
            <a:noFill/>
          </a:ln>
        </p:spPr>
      </p:pic>
      <p:sp>
        <p:nvSpPr>
          <p:cNvPr id="6" name="TextBox 5">
            <a:extLst>
              <a:ext uri="{FF2B5EF4-FFF2-40B4-BE49-F238E27FC236}">
                <a16:creationId xmlns:a16="http://schemas.microsoft.com/office/drawing/2014/main" id="{BC4A693D-5C78-A40B-7329-668262D74EA7}"/>
              </a:ext>
            </a:extLst>
          </p:cNvPr>
          <p:cNvSpPr txBox="1"/>
          <p:nvPr/>
        </p:nvSpPr>
        <p:spPr>
          <a:xfrm>
            <a:off x="3190115" y="5879259"/>
            <a:ext cx="2073966" cy="344582"/>
          </a:xfrm>
          <a:prstGeom prst="rect">
            <a:avLst/>
          </a:prstGeom>
          <a:noFill/>
        </p:spPr>
        <p:txBody>
          <a:bodyPr wrap="square">
            <a:spAutoFit/>
          </a:bodyPr>
          <a:lstStyle/>
          <a:p>
            <a:pPr>
              <a:lnSpc>
                <a:spcPct val="107000"/>
              </a:lnSpc>
              <a:spcAft>
                <a:spcPts val="800"/>
              </a:spcAft>
              <a:buNone/>
            </a:pPr>
            <a:r>
              <a:rPr lang="nb-NO" sz="16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Eksempel på </a:t>
            </a:r>
            <a:r>
              <a:rPr lang="nb-NO" sz="1600" kern="0" dirty="0">
                <a:solidFill>
                  <a:srgbClr val="373737"/>
                </a:solidFill>
                <a:latin typeface="Arial" panose="020B0604020202020204" pitchFamily="34" charset="0"/>
                <a:ea typeface="Times New Roman" panose="02020603050405020304" pitchFamily="18" charset="0"/>
                <a:cs typeface="Times New Roman" panose="02020603050405020304" pitchFamily="18" charset="0"/>
              </a:rPr>
              <a:t>spak</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561C146-CF4C-A692-869A-E08A60275890}"/>
              </a:ext>
            </a:extLst>
          </p:cNvPr>
          <p:cNvSpPr txBox="1"/>
          <p:nvPr/>
        </p:nvSpPr>
        <p:spPr>
          <a:xfrm>
            <a:off x="6979806" y="5913783"/>
            <a:ext cx="2073966" cy="344582"/>
          </a:xfrm>
          <a:prstGeom prst="rect">
            <a:avLst/>
          </a:prstGeom>
          <a:noFill/>
        </p:spPr>
        <p:txBody>
          <a:bodyPr wrap="square">
            <a:spAutoFit/>
          </a:bodyPr>
          <a:lstStyle/>
          <a:p>
            <a:pPr>
              <a:lnSpc>
                <a:spcPct val="107000"/>
              </a:lnSpc>
              <a:spcAft>
                <a:spcPts val="800"/>
              </a:spcAft>
              <a:buNone/>
            </a:pPr>
            <a:r>
              <a:rPr lang="nb-NO" sz="16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Eksempel på </a:t>
            </a:r>
            <a:r>
              <a:rPr lang="nb-NO" sz="1600" kern="0" dirty="0">
                <a:solidFill>
                  <a:srgbClr val="373737"/>
                </a:solidFill>
                <a:latin typeface="Arial" panose="020B0604020202020204" pitchFamily="34" charset="0"/>
                <a:ea typeface="Times New Roman" panose="02020603050405020304" pitchFamily="18" charset="0"/>
                <a:cs typeface="Times New Roman" panose="02020603050405020304" pitchFamily="18" charset="0"/>
              </a:rPr>
              <a:t>spak</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551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5A54-E1AD-25E0-64D5-1BA0826271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FC52713-FBB9-7155-84F8-0B57E818A998}"/>
              </a:ext>
            </a:extLst>
          </p:cNvPr>
          <p:cNvSpPr txBox="1"/>
          <p:nvPr/>
        </p:nvSpPr>
        <p:spPr>
          <a:xfrm>
            <a:off x="5217697" y="5647346"/>
            <a:ext cx="2746859" cy="344582"/>
          </a:xfrm>
          <a:prstGeom prst="rect">
            <a:avLst/>
          </a:prstGeom>
          <a:noFill/>
        </p:spPr>
        <p:txBody>
          <a:bodyPr wrap="square">
            <a:spAutoFit/>
          </a:bodyPr>
          <a:lstStyle/>
          <a:p>
            <a:pPr>
              <a:lnSpc>
                <a:spcPct val="107000"/>
              </a:lnSpc>
              <a:spcAft>
                <a:spcPts val="800"/>
              </a:spcAft>
              <a:buNone/>
            </a:pPr>
            <a:r>
              <a:rPr lang="nb-NO" sz="16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Eksempel på </a:t>
            </a:r>
            <a:r>
              <a:rPr lang="nb-NO" sz="1600" kern="0" dirty="0">
                <a:solidFill>
                  <a:srgbClr val="373737"/>
                </a:solidFill>
                <a:latin typeface="Arial" panose="020B0604020202020204" pitchFamily="34" charset="0"/>
                <a:ea typeface="Times New Roman" panose="02020603050405020304" pitchFamily="18" charset="0"/>
                <a:cs typeface="Times New Roman" panose="02020603050405020304" pitchFamily="18" charset="0"/>
              </a:rPr>
              <a:t>skyvebryter</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close-up of a switch&#10;&#10;Description automatically generated">
            <a:extLst>
              <a:ext uri="{FF2B5EF4-FFF2-40B4-BE49-F238E27FC236}">
                <a16:creationId xmlns:a16="http://schemas.microsoft.com/office/drawing/2014/main" id="{6EB5DA93-C956-1943-D27F-B84BA5894BF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1337" t="4116" r="19007" b="-4116"/>
          <a:stretch/>
        </p:blipFill>
        <p:spPr bwMode="auto">
          <a:xfrm>
            <a:off x="4511992" y="1106557"/>
            <a:ext cx="3978937" cy="385850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01311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5142-3FEB-8FBC-507E-6034FC33E23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91F0FC-42FC-85AB-1B25-5F1EF7EAA98A}"/>
              </a:ext>
            </a:extLst>
          </p:cNvPr>
          <p:cNvSpPr txBox="1"/>
          <p:nvPr/>
        </p:nvSpPr>
        <p:spPr>
          <a:xfrm>
            <a:off x="5217697" y="5647346"/>
            <a:ext cx="2746859" cy="344582"/>
          </a:xfrm>
          <a:prstGeom prst="rect">
            <a:avLst/>
          </a:prstGeom>
          <a:noFill/>
        </p:spPr>
        <p:txBody>
          <a:bodyPr wrap="square">
            <a:spAutoFit/>
          </a:bodyPr>
          <a:lstStyle/>
          <a:p>
            <a:pPr>
              <a:lnSpc>
                <a:spcPct val="107000"/>
              </a:lnSpc>
              <a:spcAft>
                <a:spcPts val="800"/>
              </a:spcAft>
              <a:buNone/>
            </a:pPr>
            <a:r>
              <a:rPr lang="nb-NO" sz="16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Eksempel på ratt</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descr="A black wheel with a handle&#10;&#10;Description automatically generated">
            <a:extLst>
              <a:ext uri="{FF2B5EF4-FFF2-40B4-BE49-F238E27FC236}">
                <a16:creationId xmlns:a16="http://schemas.microsoft.com/office/drawing/2014/main" id="{C0215979-9A6D-21FA-1B49-3A3C1D8DE23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08679" y="795876"/>
            <a:ext cx="3174641" cy="3959384"/>
          </a:xfrm>
          <a:prstGeom prst="rect">
            <a:avLst/>
          </a:prstGeom>
          <a:noFill/>
          <a:ln>
            <a:noFill/>
          </a:ln>
        </p:spPr>
      </p:pic>
    </p:spTree>
    <p:extLst>
      <p:ext uri="{BB962C8B-B14F-4D97-AF65-F5344CB8AC3E}">
        <p14:creationId xmlns:p14="http://schemas.microsoft.com/office/powerpoint/2010/main" val="3487348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F32DF-369B-9175-5FF6-D47F171268E4}"/>
            </a:ext>
          </a:extLst>
        </p:cNvPr>
        <p:cNvGrpSpPr/>
        <p:nvPr/>
      </p:nvGrpSpPr>
      <p:grpSpPr>
        <a:xfrm>
          <a:off x="0" y="0"/>
          <a:ext cx="0" cy="0"/>
          <a:chOff x="0" y="0"/>
          <a:chExt cx="0" cy="0"/>
        </a:xfrm>
      </p:grpSpPr>
      <p:sp>
        <p:nvSpPr>
          <p:cNvPr id="7" name="Rectangle 4">
            <a:extLst>
              <a:ext uri="{FF2B5EF4-FFF2-40B4-BE49-F238E27FC236}">
                <a16:creationId xmlns:a16="http://schemas.microsoft.com/office/drawing/2014/main" id="{5EEC5A34-9C6F-80CB-EE76-CD1E748B19DB}"/>
              </a:ext>
            </a:extLst>
          </p:cNvPr>
          <p:cNvSpPr>
            <a:spLocks noChangeArrowheads="1"/>
          </p:cNvSpPr>
          <p:nvPr/>
        </p:nvSpPr>
        <p:spPr bwMode="auto">
          <a:xfrm>
            <a:off x="1623391" y="1528305"/>
            <a:ext cx="9620385"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2200" b="1" i="0" u="none" strike="noStrike" cap="none" normalizeH="0" baseline="0" dirty="0">
                <a:ln>
                  <a:noFill/>
                </a:ln>
                <a:solidFill>
                  <a:schemeClr val="tx2">
                    <a:lumMod val="75000"/>
                    <a:lumOff val="25000"/>
                  </a:schemeClr>
                </a:solidFill>
                <a:effectLst/>
                <a:latin typeface="Arial" panose="020B0604020202020204" pitchFamily="34" charset="0"/>
                <a:ea typeface="Times New Roman" panose="02020603050405020304" pitchFamily="18" charset="0"/>
                <a:cs typeface="Arial" panose="020B0604020202020204" pitchFamily="34" charset="0"/>
              </a:rPr>
              <a:t>Semantikk: Læren om språkets innhold og mening - </a:t>
            </a:r>
            <a:r>
              <a:rPr lang="nb-NO" altLang="nb-NO" sz="2200" b="1" dirty="0">
                <a:solidFill>
                  <a:schemeClr val="tx2">
                    <a:lumMod val="75000"/>
                    <a:lumOff val="25000"/>
                  </a:schemeClr>
                </a:solidFill>
                <a:latin typeface="Arial" panose="020B0604020202020204" pitchFamily="34" charset="0"/>
                <a:cs typeface="Arial" panose="020B0604020202020204" pitchFamily="34" charset="0"/>
              </a:rPr>
              <a:t>‘b</a:t>
            </a:r>
            <a:r>
              <a:rPr kumimoji="0" lang="nb-NO" altLang="nb-NO" sz="2200" b="1" i="0" u="none" strike="noStrike" cap="none" normalizeH="0" baseline="0" dirty="0">
                <a:ln>
                  <a:noFill/>
                </a:ln>
                <a:solidFill>
                  <a:schemeClr val="tx2">
                    <a:lumMod val="75000"/>
                    <a:lumOff val="25000"/>
                  </a:schemeClr>
                </a:solidFill>
                <a:effectLst/>
                <a:latin typeface="Arial" panose="020B0604020202020204" pitchFamily="34" charset="0"/>
                <a:cs typeface="Arial" panose="020B0604020202020204" pitchFamily="34" charset="0"/>
              </a:rPr>
              <a:t>etydningslære’</a:t>
            </a:r>
            <a:endParaRPr kumimoji="0" lang="nb-NO" altLang="nb-NO" sz="400" b="0" i="0" u="none" strike="noStrike" cap="none" normalizeH="0" baseline="0" dirty="0">
              <a:ln>
                <a:noFill/>
              </a:ln>
              <a:solidFill>
                <a:schemeClr val="tx2">
                  <a:lumMod val="75000"/>
                  <a:lumOff val="2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400" b="1" i="0" u="none" strike="noStrike" cap="none" normalizeH="0" baseline="0" dirty="0">
              <a:ln>
                <a:noFill/>
              </a:ln>
              <a:solidFill>
                <a:schemeClr val="tx2">
                  <a:lumMod val="75000"/>
                  <a:lumOff val="25000"/>
                </a:schemeClr>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400" b="0" i="0" u="none" strike="noStrike" cap="none" normalizeH="0" baseline="0" dirty="0">
              <a:ln>
                <a:noFill/>
              </a:ln>
              <a:solidFill>
                <a:schemeClr val="tx2">
                  <a:lumMod val="75000"/>
                  <a:lumOff val="25000"/>
                </a:schemeClr>
              </a:solidFill>
              <a:effectLst/>
            </a:endParaRPr>
          </a:p>
          <a:p>
            <a:pPr lvl="0" eaLnBrk="0" fontAlgn="base" hangingPunct="0">
              <a:spcBef>
                <a:spcPct val="0"/>
              </a:spcBef>
              <a:spcAft>
                <a:spcPct val="0"/>
              </a:spcAft>
            </a:pPr>
            <a:r>
              <a:rPr lang="nb-NO" sz="1600" dirty="0">
                <a:solidFill>
                  <a:schemeClr val="tx2">
                    <a:lumMod val="75000"/>
                    <a:lumOff val="25000"/>
                  </a:schemeClr>
                </a:solidFill>
              </a:rPr>
              <a:t>Semantikk er læren om betydningen av ord, fraser og setninger i et språk. </a:t>
            </a:r>
          </a:p>
          <a:p>
            <a:pPr lvl="0" eaLnBrk="0" fontAlgn="base" hangingPunct="0">
              <a:spcBef>
                <a:spcPct val="0"/>
              </a:spcBef>
              <a:spcAft>
                <a:spcPct val="0"/>
              </a:spcAft>
            </a:pPr>
            <a:endParaRPr lang="nb-NO" sz="1600" dirty="0">
              <a:solidFill>
                <a:schemeClr val="tx2">
                  <a:lumMod val="75000"/>
                  <a:lumOff val="25000"/>
                </a:schemeClr>
              </a:solidFill>
            </a:endParaRPr>
          </a:p>
          <a:p>
            <a:pPr lvl="0" eaLnBrk="0" fontAlgn="base" hangingPunct="0">
              <a:spcBef>
                <a:spcPct val="0"/>
              </a:spcBef>
              <a:spcAft>
                <a:spcPct val="0"/>
              </a:spcAft>
            </a:pPr>
            <a:r>
              <a:rPr lang="nb-NO" sz="1600" dirty="0">
                <a:solidFill>
                  <a:schemeClr val="tx2">
                    <a:lumMod val="75000"/>
                    <a:lumOff val="25000"/>
                  </a:schemeClr>
                </a:solidFill>
              </a:rPr>
              <a:t>Det studerer hvordan språklige tegn formidler mening, inkludert forholdet mellom ord, kontekst, synonymer og metaforer. </a:t>
            </a:r>
          </a:p>
          <a:p>
            <a:pPr lvl="0" eaLnBrk="0" fontAlgn="base" hangingPunct="0">
              <a:spcBef>
                <a:spcPct val="0"/>
              </a:spcBef>
              <a:spcAft>
                <a:spcPct val="0"/>
              </a:spcAft>
            </a:pPr>
            <a:endParaRPr lang="nb-NO" sz="1600" dirty="0">
              <a:solidFill>
                <a:schemeClr val="tx2">
                  <a:lumMod val="75000"/>
                  <a:lumOff val="2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1"/>
              </a:solidFill>
              <a:effectLst/>
            </a:endParaRPr>
          </a:p>
        </p:txBody>
      </p:sp>
      <p:sp>
        <p:nvSpPr>
          <p:cNvPr id="8" name="Rectangle 8">
            <a:extLst>
              <a:ext uri="{FF2B5EF4-FFF2-40B4-BE49-F238E27FC236}">
                <a16:creationId xmlns:a16="http://schemas.microsoft.com/office/drawing/2014/main" id="{0A6B8B59-B8A0-ECA6-BB18-C840BF1973DA}"/>
              </a:ext>
            </a:extLst>
          </p:cNvPr>
          <p:cNvSpPr>
            <a:spLocks noChangeArrowheads="1"/>
          </p:cNvSpPr>
          <p:nvPr/>
        </p:nvSpPr>
        <p:spPr bwMode="auto">
          <a:xfrm>
            <a:off x="3213652" y="6339098"/>
            <a:ext cx="560567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800" b="0" i="0" u="sng"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Kilde:</a:t>
            </a:r>
            <a:r>
              <a:rPr lang="nb-NO" altLang="nb-NO" sz="400" dirty="0"/>
              <a:t> </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Rune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Mon</a:t>
            </a:r>
            <a:r>
              <a:rPr kumimoji="0" lang="nb-NO" altLang="nb-NO" sz="800" b="0" i="0" u="none" strike="noStrike" cap="none" normalizeH="0" baseline="0" dirty="0" err="1">
                <a:ln>
                  <a:noFill/>
                </a:ln>
                <a:solidFill>
                  <a:srgbClr val="275317"/>
                </a:solidFill>
                <a:effectLst/>
                <a:latin typeface="Aptos" panose="020B0004020202020204" pitchFamily="34" charset="0"/>
                <a:ea typeface="Times New Roman" panose="02020603050405020304" pitchFamily="18" charset="0"/>
                <a:cs typeface="Arial" panose="020B0604020202020204" pitchFamily="34" charset="0"/>
              </a:rPr>
              <a:t>ö</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Design for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product</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understanding</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The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Aestetics</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od Design from a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Semiotic</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Approach</a:t>
            </a:r>
            <a:r>
              <a:rPr lang="nb-NO" altLang="nb-NO" sz="800" dirty="0">
                <a:solidFill>
                  <a:srgbClr val="275317"/>
                </a:solidFill>
                <a:latin typeface="Arial" panose="020B0604020202020204" pitchFamily="34" charset="0"/>
                <a:ea typeface="Times New Roman" panose="02020603050405020304" pitchFamily="18" charset="0"/>
                <a:cs typeface="Arial" panose="020B0604020202020204" pitchFamily="34" charset="0"/>
              </a:rPr>
              <a:t>,</a:t>
            </a:r>
            <a:r>
              <a:rPr lang="nb-NO" altLang="nb-NO" sz="400" dirty="0"/>
              <a:t> </a:t>
            </a:r>
            <a:r>
              <a:rPr kumimoji="0" lang="en-US"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Liber </a:t>
            </a:r>
            <a:r>
              <a:rPr kumimoji="0" lang="en-US"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Forlag</a:t>
            </a:r>
            <a:endParaRPr kumimoji="0" lang="en-US" altLang="nb-N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7874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63D3-8BE8-20CB-2305-D45B38545AC5}"/>
            </a:ext>
          </a:extLst>
        </p:cNvPr>
        <p:cNvGrpSpPr/>
        <p:nvPr/>
      </p:nvGrpSpPr>
      <p:grpSpPr>
        <a:xfrm>
          <a:off x="0" y="0"/>
          <a:ext cx="0" cy="0"/>
          <a:chOff x="0" y="0"/>
          <a:chExt cx="0" cy="0"/>
        </a:xfrm>
      </p:grpSpPr>
      <p:sp>
        <p:nvSpPr>
          <p:cNvPr id="7" name="Rectangle 4">
            <a:extLst>
              <a:ext uri="{FF2B5EF4-FFF2-40B4-BE49-F238E27FC236}">
                <a16:creationId xmlns:a16="http://schemas.microsoft.com/office/drawing/2014/main" id="{927E9B15-F010-246C-B931-AE042FF2CF4A}"/>
              </a:ext>
            </a:extLst>
          </p:cNvPr>
          <p:cNvSpPr>
            <a:spLocks noChangeArrowheads="1"/>
          </p:cNvSpPr>
          <p:nvPr/>
        </p:nvSpPr>
        <p:spPr bwMode="auto">
          <a:xfrm>
            <a:off x="1636643" y="-460479"/>
            <a:ext cx="9620385"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nb-NO" altLang="nb-NO" sz="2400" b="1" dirty="0">
              <a:solidFill>
                <a:schemeClr val="tx2">
                  <a:lumMod val="75000"/>
                  <a:lumOff val="2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nb-NO" altLang="nb-NO" sz="2400" b="1" dirty="0">
              <a:solidFill>
                <a:schemeClr val="tx2">
                  <a:lumMod val="75000"/>
                  <a:lumOff val="25000"/>
                </a:schemeClr>
              </a:solidFill>
            </a:endParaRPr>
          </a:p>
          <a:p>
            <a:pPr lvl="0" eaLnBrk="0" fontAlgn="base" hangingPunct="0">
              <a:spcBef>
                <a:spcPct val="0"/>
              </a:spcBef>
              <a:spcAft>
                <a:spcPct val="0"/>
              </a:spcAft>
            </a:pPr>
            <a:r>
              <a:rPr lang="nb-NO" sz="1600" dirty="0">
                <a:solidFill>
                  <a:schemeClr val="tx2">
                    <a:lumMod val="75000"/>
                    <a:lumOff val="25000"/>
                  </a:schemeClr>
                </a:solidFill>
              </a:rPr>
              <a:t>I </a:t>
            </a:r>
            <a:r>
              <a:rPr lang="nb-NO" sz="1600" b="1" dirty="0">
                <a:solidFill>
                  <a:schemeClr val="tx2">
                    <a:lumMod val="75000"/>
                    <a:lumOff val="25000"/>
                  </a:schemeClr>
                </a:solidFill>
              </a:rPr>
              <a:t>produktdesign-kontekst </a:t>
            </a:r>
            <a:r>
              <a:rPr lang="nb-NO" sz="1600" dirty="0">
                <a:solidFill>
                  <a:schemeClr val="tx2">
                    <a:lumMod val="75000"/>
                    <a:lumOff val="25000"/>
                  </a:schemeClr>
                </a:solidFill>
              </a:rPr>
              <a:t>er det fysiske formuttrykket designerens ‘språk’.</a:t>
            </a:r>
          </a:p>
          <a:p>
            <a:pPr lvl="0" eaLnBrk="0" fontAlgn="base" hangingPunct="0">
              <a:spcBef>
                <a:spcPct val="0"/>
              </a:spcBef>
              <a:spcAft>
                <a:spcPct val="0"/>
              </a:spcAft>
            </a:pPr>
            <a:endParaRPr kumimoji="0" lang="nb-NO" altLang="nb-NO" sz="1600" b="1" i="0" u="sng" strike="noStrike" cap="none" normalizeH="0" baseline="0" dirty="0">
              <a:ln>
                <a:noFill/>
              </a:ln>
              <a:solidFill>
                <a:schemeClr val="tx2">
                  <a:lumMod val="75000"/>
                  <a:lumOff val="25000"/>
                </a:schemeClr>
              </a:solidFill>
              <a:effectLst/>
              <a:ea typeface="Times New Roman" panose="02020603050405020304" pitchFamily="18" charset="0"/>
              <a:cs typeface="Arial" panose="020B0604020202020204" pitchFamily="34" charset="0"/>
            </a:endParaRPr>
          </a:p>
          <a:p>
            <a:pPr lvl="0" eaLnBrk="0" fontAlgn="base" hangingPunct="0">
              <a:spcBef>
                <a:spcPct val="0"/>
              </a:spcBef>
              <a:spcAft>
                <a:spcPct val="0"/>
              </a:spcAft>
            </a:pPr>
            <a:r>
              <a:rPr lang="nb-NO" sz="1600" dirty="0">
                <a:solidFill>
                  <a:schemeClr val="tx2">
                    <a:lumMod val="75000"/>
                    <a:lumOff val="25000"/>
                  </a:schemeClr>
                </a:solidFill>
              </a:rPr>
              <a:t>Produktsemantikk er læren om hvordan produkter kommuniserer mening og identitet gjennom sitt visuelle uttrykk, form, farge og tekstur. Det handler om å systematisere kunnskapen om hvilke signaler et produkt sender ut, utover sin rene funksjon.</a:t>
            </a:r>
          </a:p>
          <a:p>
            <a:pPr marL="0" marR="0" lvl="0" indent="0" algn="l" defTabSz="914400" rtl="0" eaLnBrk="0" fontAlgn="base" latinLnBrk="0" hangingPunct="0">
              <a:lnSpc>
                <a:spcPct val="100000"/>
              </a:lnSpc>
              <a:spcBef>
                <a:spcPct val="0"/>
              </a:spcBef>
              <a:spcAft>
                <a:spcPct val="0"/>
              </a:spcAft>
              <a:buClrTx/>
              <a:buSzTx/>
              <a:buFontTx/>
              <a:buNone/>
              <a:tabLst/>
            </a:pPr>
            <a:endParaRPr lang="nb-NO" altLang="nb-NO" sz="2400" b="1" dirty="0">
              <a:solidFill>
                <a:schemeClr val="tx2">
                  <a:lumMod val="75000"/>
                  <a:lumOff val="2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nb-NO" altLang="nb-NO" sz="2400" b="1" dirty="0">
                <a:solidFill>
                  <a:schemeClr val="tx2">
                    <a:lumMod val="75000"/>
                    <a:lumOff val="25000"/>
                  </a:schemeClr>
                </a:solidFill>
              </a:rPr>
              <a:t>N</a:t>
            </a:r>
            <a:r>
              <a:rPr kumimoji="0" lang="nb-NO" altLang="nb-NO" sz="2400" b="1" i="0" u="none" strike="noStrike" cap="none" normalizeH="0" baseline="0" dirty="0">
                <a:ln>
                  <a:noFill/>
                </a:ln>
                <a:solidFill>
                  <a:schemeClr val="tx2">
                    <a:lumMod val="75000"/>
                    <a:lumOff val="25000"/>
                  </a:schemeClr>
                </a:solidFill>
                <a:effectLst/>
              </a:rPr>
              <a:t>økkelpunkter om produktsemantikk: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2">
                  <a:lumMod val="75000"/>
                  <a:lumOff val="2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1" i="0" u="none" strike="noStrike" cap="none" normalizeH="0" baseline="0" dirty="0">
                <a:ln>
                  <a:noFill/>
                </a:ln>
                <a:solidFill>
                  <a:schemeClr val="tx2">
                    <a:lumMod val="75000"/>
                    <a:lumOff val="25000"/>
                  </a:schemeClr>
                </a:solidFill>
                <a:effectLst/>
              </a:rPr>
              <a:t>• Betydning og identitet: </a:t>
            </a: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0" i="0" u="none" strike="noStrike" cap="none" normalizeH="0" baseline="0" dirty="0">
                <a:ln>
                  <a:noFill/>
                </a:ln>
                <a:solidFill>
                  <a:schemeClr val="tx2">
                    <a:lumMod val="75000"/>
                    <a:lumOff val="25000"/>
                  </a:schemeClr>
                </a:solidFill>
                <a:effectLst/>
              </a:rPr>
              <a:t>   Feltet bygger bro mellom mennesker og produktene de bruker, for å skape mening.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2">
                  <a:lumMod val="75000"/>
                  <a:lumOff val="2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1" i="0" u="none" strike="noStrike" cap="none" normalizeH="0" baseline="0" dirty="0">
                <a:ln>
                  <a:noFill/>
                </a:ln>
                <a:solidFill>
                  <a:schemeClr val="tx2">
                    <a:lumMod val="75000"/>
                    <a:lumOff val="25000"/>
                  </a:schemeClr>
                </a:solidFill>
                <a:effectLst/>
              </a:rPr>
              <a:t>• Signaler: </a:t>
            </a: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0" i="0" u="none" strike="noStrike" cap="none" normalizeH="0" baseline="0" dirty="0">
                <a:ln>
                  <a:noFill/>
                </a:ln>
                <a:solidFill>
                  <a:schemeClr val="tx2">
                    <a:lumMod val="75000"/>
                    <a:lumOff val="25000"/>
                  </a:schemeClr>
                </a:solidFill>
                <a:effectLst/>
              </a:rPr>
              <a:t>   Produktsemantikk undersøker hva gjenstandens form, farge og materialvalg forteller brukeren.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2">
                  <a:lumMod val="75000"/>
                  <a:lumOff val="2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1" i="0" u="none" strike="noStrike" cap="none" normalizeH="0" baseline="0" dirty="0">
                <a:ln>
                  <a:noFill/>
                </a:ln>
                <a:solidFill>
                  <a:schemeClr val="tx2">
                    <a:lumMod val="75000"/>
                    <a:lumOff val="25000"/>
                  </a:schemeClr>
                </a:solidFill>
                <a:effectLst/>
              </a:rPr>
              <a:t>• Funksjon og form: </a:t>
            </a: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0" i="0" u="none" strike="noStrike" cap="none" normalizeH="0" baseline="0" dirty="0">
                <a:ln>
                  <a:noFill/>
                </a:ln>
                <a:solidFill>
                  <a:schemeClr val="tx2">
                    <a:lumMod val="75000"/>
                    <a:lumOff val="25000"/>
                  </a:schemeClr>
                </a:solidFill>
                <a:effectLst/>
              </a:rPr>
              <a:t>   Det brukes i industridesign for å tydeliggjøre hva et produkt er, hva det ligner, og hvilken kvalitet det har</a:t>
            </a:r>
          </a:p>
          <a:p>
            <a:pPr marL="0" marR="0" lvl="0" indent="0" algn="l" defTabSz="914400" rtl="0" eaLnBrk="0" fontAlgn="base" latinLnBrk="0" hangingPunct="0">
              <a:lnSpc>
                <a:spcPct val="100000"/>
              </a:lnSpc>
              <a:spcBef>
                <a:spcPct val="0"/>
              </a:spcBef>
              <a:spcAft>
                <a:spcPct val="0"/>
              </a:spcAft>
              <a:buClrTx/>
              <a:buSzTx/>
              <a:buFontTx/>
              <a:buNone/>
              <a:tabLst/>
            </a:pPr>
            <a:r>
              <a:rPr lang="nb-NO" altLang="nb-NO" sz="1600" dirty="0">
                <a:solidFill>
                  <a:schemeClr val="tx2">
                    <a:lumMod val="75000"/>
                    <a:lumOff val="25000"/>
                  </a:schemeClr>
                </a:solidFill>
              </a:rPr>
              <a:t>  </a:t>
            </a:r>
            <a:r>
              <a:rPr kumimoji="0" lang="nb-NO" altLang="nb-NO" sz="1600" b="0" i="0" u="none" strike="noStrike" cap="none" normalizeH="0" baseline="0" dirty="0">
                <a:ln>
                  <a:noFill/>
                </a:ln>
                <a:solidFill>
                  <a:schemeClr val="tx2">
                    <a:lumMod val="75000"/>
                    <a:lumOff val="25000"/>
                  </a:schemeClr>
                </a:solidFill>
                <a:effectLst/>
              </a:rPr>
              <a:t> (fordeler/ulemper).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600" b="0" i="0" u="none" strike="noStrike" cap="none" normalizeH="0" baseline="0" dirty="0">
              <a:ln>
                <a:noFill/>
              </a:ln>
              <a:solidFill>
                <a:schemeClr val="tx2">
                  <a:lumMod val="75000"/>
                  <a:lumOff val="2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600" b="1" i="0" u="none" strike="noStrike" cap="none" normalizeH="0" baseline="0" dirty="0">
                <a:ln>
                  <a:noFill/>
                </a:ln>
                <a:solidFill>
                  <a:schemeClr val="tx2">
                    <a:lumMod val="75000"/>
                    <a:lumOff val="25000"/>
                  </a:schemeClr>
                </a:solidFill>
                <a:effectLst/>
              </a:rPr>
              <a:t>• Visuell kommunikasjon: </a:t>
            </a:r>
          </a:p>
          <a:p>
            <a:pPr marL="0" marR="0" lvl="0" indent="0" algn="l" defTabSz="914400" rtl="0" eaLnBrk="0" fontAlgn="base" latinLnBrk="0" hangingPunct="0">
              <a:lnSpc>
                <a:spcPct val="100000"/>
              </a:lnSpc>
              <a:spcBef>
                <a:spcPct val="0"/>
              </a:spcBef>
              <a:spcAft>
                <a:spcPct val="0"/>
              </a:spcAft>
              <a:buClrTx/>
              <a:buSzTx/>
              <a:buFontTx/>
              <a:buNone/>
              <a:tabLst/>
            </a:pPr>
            <a:r>
              <a:rPr lang="nb-NO" altLang="nb-NO" sz="1600" dirty="0">
                <a:solidFill>
                  <a:schemeClr val="tx2">
                    <a:lumMod val="75000"/>
                    <a:lumOff val="25000"/>
                  </a:schemeClr>
                </a:solidFill>
              </a:rPr>
              <a:t>   </a:t>
            </a:r>
            <a:r>
              <a:rPr kumimoji="0" lang="nb-NO" altLang="nb-NO" sz="1600" b="0" i="0" u="none" strike="noStrike" cap="none" normalizeH="0" baseline="0" dirty="0">
                <a:ln>
                  <a:noFill/>
                </a:ln>
                <a:solidFill>
                  <a:schemeClr val="tx2">
                    <a:lumMod val="75000"/>
                    <a:lumOff val="25000"/>
                  </a:schemeClr>
                </a:solidFill>
                <a:effectLst/>
              </a:rPr>
              <a:t>Det handler om hvordan produkter uttrykker seg visuelt, for eksempel gjennom en vannkran som </a:t>
            </a:r>
          </a:p>
          <a:p>
            <a:pPr marL="0" marR="0" lvl="0" indent="0" algn="l" defTabSz="914400" rtl="0" eaLnBrk="0" fontAlgn="base" latinLnBrk="0" hangingPunct="0">
              <a:lnSpc>
                <a:spcPct val="100000"/>
              </a:lnSpc>
              <a:spcBef>
                <a:spcPct val="0"/>
              </a:spcBef>
              <a:spcAft>
                <a:spcPct val="0"/>
              </a:spcAft>
              <a:buClrTx/>
              <a:buSzTx/>
              <a:buFontTx/>
              <a:buNone/>
              <a:tabLst/>
            </a:pPr>
            <a:r>
              <a:rPr lang="nb-NO" altLang="nb-NO" sz="1600" dirty="0">
                <a:solidFill>
                  <a:schemeClr val="tx2">
                    <a:lumMod val="75000"/>
                    <a:lumOff val="25000"/>
                  </a:schemeClr>
                </a:solidFill>
              </a:rPr>
              <a:t>   </a:t>
            </a:r>
            <a:r>
              <a:rPr kumimoji="0" lang="nb-NO" altLang="nb-NO" sz="1600" b="0" i="0" u="none" strike="noStrike" cap="none" normalizeH="0" baseline="0" dirty="0">
                <a:ln>
                  <a:noFill/>
                </a:ln>
                <a:solidFill>
                  <a:schemeClr val="tx2">
                    <a:lumMod val="75000"/>
                    <a:lumOff val="25000"/>
                  </a:schemeClr>
                </a:solidFill>
                <a:effectLst/>
              </a:rPr>
              <a:t>signaliserer hvordan den skal betjenes uten ord.</a:t>
            </a:r>
          </a:p>
        </p:txBody>
      </p:sp>
      <p:sp>
        <p:nvSpPr>
          <p:cNvPr id="8" name="Rectangle 8">
            <a:extLst>
              <a:ext uri="{FF2B5EF4-FFF2-40B4-BE49-F238E27FC236}">
                <a16:creationId xmlns:a16="http://schemas.microsoft.com/office/drawing/2014/main" id="{B7A8C22A-1D2B-5365-FB50-AFDAAA61E356}"/>
              </a:ext>
            </a:extLst>
          </p:cNvPr>
          <p:cNvSpPr>
            <a:spLocks noChangeArrowheads="1"/>
          </p:cNvSpPr>
          <p:nvPr/>
        </p:nvSpPr>
        <p:spPr bwMode="auto">
          <a:xfrm>
            <a:off x="3213652" y="6339098"/>
            <a:ext cx="575144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800" b="0" i="0" u="sng"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Kilde:</a:t>
            </a:r>
            <a:r>
              <a:rPr lang="nb-NO" altLang="nb-NO" sz="400" dirty="0"/>
              <a:t> </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Rune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Mon</a:t>
            </a:r>
            <a:r>
              <a:rPr kumimoji="0" lang="nb-NO" altLang="nb-NO" sz="800" b="0" i="0" u="none" strike="noStrike" cap="none" normalizeH="0" baseline="0" dirty="0" err="1">
                <a:ln>
                  <a:noFill/>
                </a:ln>
                <a:solidFill>
                  <a:srgbClr val="275317"/>
                </a:solidFill>
                <a:effectLst/>
                <a:latin typeface="Aptos" panose="020B0004020202020204" pitchFamily="34" charset="0"/>
                <a:ea typeface="Times New Roman" panose="02020603050405020304" pitchFamily="18" charset="0"/>
                <a:cs typeface="Arial" panose="020B0604020202020204" pitchFamily="34" charset="0"/>
              </a:rPr>
              <a:t>ö</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Design for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product</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understanding</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The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Aestetics</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od Design from a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Semiotic</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Approach</a:t>
            </a:r>
            <a:r>
              <a:rPr lang="nb-NO" altLang="nb-NO" sz="800" dirty="0">
                <a:solidFill>
                  <a:srgbClr val="275317"/>
                </a:solidFill>
                <a:latin typeface="Arial" panose="020B0604020202020204" pitchFamily="34" charset="0"/>
                <a:ea typeface="Times New Roman" panose="02020603050405020304" pitchFamily="18" charset="0"/>
                <a:cs typeface="Arial" panose="020B0604020202020204" pitchFamily="34" charset="0"/>
              </a:rPr>
              <a:t>,</a:t>
            </a:r>
            <a:r>
              <a:rPr lang="nb-NO" altLang="nb-NO" sz="400" dirty="0"/>
              <a:t> </a:t>
            </a:r>
            <a:r>
              <a:rPr kumimoji="0" lang="en-US"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Liber </a:t>
            </a:r>
            <a:r>
              <a:rPr kumimoji="0" lang="en-US"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Forlag</a:t>
            </a:r>
            <a:r>
              <a:rPr kumimoji="0" lang="en-US"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 AI</a:t>
            </a:r>
            <a:endParaRPr kumimoji="0" lang="en-US" altLang="nb-N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97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71E2E-BE50-E591-AF48-6C1512834B37}"/>
            </a:ext>
          </a:extLst>
        </p:cNvPr>
        <p:cNvGrpSpPr/>
        <p:nvPr/>
      </p:nvGrpSpPr>
      <p:grpSpPr>
        <a:xfrm>
          <a:off x="0" y="0"/>
          <a:ext cx="0" cy="0"/>
          <a:chOff x="0" y="0"/>
          <a:chExt cx="0" cy="0"/>
        </a:xfrm>
      </p:grpSpPr>
      <p:sp>
        <p:nvSpPr>
          <p:cNvPr id="3" name="Arrow: Pentagon 1">
            <a:extLst>
              <a:ext uri="{FF2B5EF4-FFF2-40B4-BE49-F238E27FC236}">
                <a16:creationId xmlns:a16="http://schemas.microsoft.com/office/drawing/2014/main" id="{759F60FA-31F2-4A27-4826-2B858FDA3411}"/>
              </a:ext>
            </a:extLst>
          </p:cNvPr>
          <p:cNvSpPr>
            <a:spLocks noChangeArrowheads="1"/>
          </p:cNvSpPr>
          <p:nvPr/>
        </p:nvSpPr>
        <p:spPr bwMode="auto">
          <a:xfrm>
            <a:off x="3078918" y="2170112"/>
            <a:ext cx="3240088" cy="2517775"/>
          </a:xfrm>
          <a:prstGeom prst="homePlate">
            <a:avLst>
              <a:gd name="adj" fmla="val 50010"/>
            </a:avLst>
          </a:prstGeom>
          <a:solidFill>
            <a:srgbClr val="C1F0C7"/>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Beskrive fakta</a:t>
            </a:r>
            <a:endParaRPr kumimoji="0" lang="nb-NO"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Uttrykke egenskaper</a:t>
            </a:r>
            <a:endParaRPr kumimoji="0" lang="nb-NO"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Formane reaksjoner</a:t>
            </a:r>
            <a:endParaRPr kumimoji="0" lang="nb-NO"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Identifisere opprinnelse</a:t>
            </a:r>
            <a:endParaRPr kumimoji="0" lang="nb-NO" altLang="nb-NO"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992D8B8E-BFF3-0DE7-56CC-8B1A61A290CC}"/>
              </a:ext>
            </a:extLst>
          </p:cNvPr>
          <p:cNvSpPr>
            <a:spLocks noChangeArrowheads="1"/>
          </p:cNvSpPr>
          <p:nvPr/>
        </p:nvSpPr>
        <p:spPr bwMode="auto">
          <a:xfrm>
            <a:off x="6714935" y="2170111"/>
            <a:ext cx="2422525" cy="2517775"/>
          </a:xfrm>
          <a:prstGeom prst="rect">
            <a:avLst/>
          </a:prstGeom>
          <a:solidFill>
            <a:srgbClr val="CAEDFB"/>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Gjenkjennelse	</a:t>
            </a:r>
            <a:endParaRPr kumimoji="0" lang="nb-NO" altLang="nb-NO" sz="4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a:t>
            </a:r>
            <a:r>
              <a:rPr kumimoji="0" lang="nb-NO" altLang="nb-NO" sz="1400" b="1" i="0" u="none" strike="noStrike" cap="none" normalizeH="0" baseline="0" dirty="0">
                <a:ln>
                  <a:noFill/>
                </a:ln>
                <a:solidFill>
                  <a:srgbClr val="275317"/>
                </a:solidFill>
                <a:effectLst/>
                <a:latin typeface="Aptos" panose="020B0004020202020204" pitchFamily="34" charset="0"/>
                <a:ea typeface="Times New Roman" panose="02020603050405020304" pitchFamily="18" charset="0"/>
                <a:cs typeface="Arial" panose="020B0604020202020204" pitchFamily="34" charset="0"/>
              </a:rPr>
              <a:t>ø</a:t>
            </a: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lelser</a:t>
            </a:r>
            <a:endParaRPr kumimoji="0" lang="nb-NO" altLang="nb-NO" sz="4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Evaluering</a:t>
            </a:r>
            <a:endParaRPr kumimoji="0" lang="nb-NO" altLang="nb-NO" sz="4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Forestilling</a:t>
            </a:r>
            <a:endParaRPr kumimoji="0" lang="nb-NO" altLang="nb-NO" sz="4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Impuls for handling </a:t>
            </a:r>
            <a:endParaRPr kumimoji="0" lang="nb-NO" altLang="nb-NO" sz="4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Forst</a:t>
            </a:r>
            <a:r>
              <a:rPr kumimoji="0" lang="nb-NO" altLang="nb-NO" sz="1400" b="1" i="0" u="none" strike="noStrike" cap="none" normalizeH="0" baseline="0" dirty="0">
                <a:ln>
                  <a:noFill/>
                </a:ln>
                <a:solidFill>
                  <a:srgbClr val="275317"/>
                </a:solidFill>
                <a:effectLst/>
                <a:latin typeface="Aptos" panose="020B0004020202020204" pitchFamily="34" charset="0"/>
                <a:ea typeface="Times New Roman" panose="02020603050405020304" pitchFamily="18" charset="0"/>
                <a:cs typeface="Arial" panose="020B0604020202020204" pitchFamily="34" charset="0"/>
              </a:rPr>
              <a:t>å</a:t>
            </a:r>
            <a:r>
              <a:rPr kumimoji="0" lang="nb-NO" altLang="nb-NO" sz="1400" b="1"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else</a:t>
            </a:r>
          </a:p>
        </p:txBody>
      </p:sp>
      <p:sp>
        <p:nvSpPr>
          <p:cNvPr id="5" name="Oval 3">
            <a:extLst>
              <a:ext uri="{FF2B5EF4-FFF2-40B4-BE49-F238E27FC236}">
                <a16:creationId xmlns:a16="http://schemas.microsoft.com/office/drawing/2014/main" id="{853760C9-0D17-73C9-90C0-77EE9CDCB984}"/>
              </a:ext>
            </a:extLst>
          </p:cNvPr>
          <p:cNvSpPr>
            <a:spLocks noChangeArrowheads="1"/>
          </p:cNvSpPr>
          <p:nvPr/>
        </p:nvSpPr>
        <p:spPr bwMode="auto">
          <a:xfrm>
            <a:off x="6200090" y="3092449"/>
            <a:ext cx="633412" cy="617537"/>
          </a:xfrm>
          <a:prstGeom prst="ellipse">
            <a:avLst/>
          </a:prstGeom>
          <a:solidFill>
            <a:srgbClr val="C0000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nb-NO" sz="2200" b="1"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nb-NO" sz="2200" b="1"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cs typeface="Arial" panose="020B0604020202020204" pitchFamily="34" charset="0"/>
              </a:rPr>
              <a:t>P</a:t>
            </a:r>
            <a:endParaRPr kumimoji="0" lang="en-US"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nb-NO"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A29C3E60-BF0F-6823-D78D-C43A41F32BBA}"/>
              </a:ext>
            </a:extLst>
          </p:cNvPr>
          <p:cNvSpPr>
            <a:spLocks noChangeArrowheads="1"/>
          </p:cNvSpPr>
          <p:nvPr/>
        </p:nvSpPr>
        <p:spPr bwMode="auto">
          <a:xfrm>
            <a:off x="2948608" y="1049292"/>
            <a:ext cx="6213048"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nb-NO" altLang="nb-NO" sz="1400" b="1" u="sng" dirty="0">
              <a:solidFill>
                <a:srgbClr val="275317"/>
              </a:solidFill>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0" u="sng"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AVSENDER: (Produsent-siden)		MOTTAKER: (Bruker-siden)</a:t>
            </a:r>
            <a:endParaRPr kumimoji="0" lang="nb-NO"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400" b="1" i="1" u="none" strike="noStrike" cap="none" normalizeH="0" baseline="0" dirty="0">
              <a:ln>
                <a:noFill/>
              </a:ln>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1" i="1" u="none" strike="noStrike" cap="none" normalizeH="0" baseline="0" dirty="0">
                <a:ln>
                  <a:noFill/>
                </a:ln>
                <a:solidFill>
                  <a:srgbClr val="C00000"/>
                </a:solidFill>
                <a:effectLst/>
                <a:latin typeface="Arial" panose="020B0604020202020204" pitchFamily="34" charset="0"/>
                <a:ea typeface="Times New Roman" panose="02020603050405020304" pitchFamily="18" charset="0"/>
                <a:cs typeface="Arial" panose="020B0604020202020204" pitchFamily="34" charset="0"/>
              </a:rPr>
              <a:t>Message:				Attraktivitet (målsetting):</a:t>
            </a:r>
            <a:endParaRPr kumimoji="0" lang="nb-NO" altLang="nb-NO"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800" b="0" i="0" u="none" strike="noStrike" cap="none" normalizeH="0" baseline="0" dirty="0">
              <a:ln>
                <a:noFill/>
              </a:ln>
              <a:solidFill>
                <a:schemeClr val="tx1"/>
              </a:solidFill>
              <a:effectLst/>
              <a:latin typeface="Arial" panose="020B0604020202020204" pitchFamily="34" charset="0"/>
            </a:endParaRPr>
          </a:p>
        </p:txBody>
      </p:sp>
      <p:sp>
        <p:nvSpPr>
          <p:cNvPr id="8" name="Rectangle 8">
            <a:extLst>
              <a:ext uri="{FF2B5EF4-FFF2-40B4-BE49-F238E27FC236}">
                <a16:creationId xmlns:a16="http://schemas.microsoft.com/office/drawing/2014/main" id="{152E2EAC-F143-0690-70D8-2D85FC508DC8}"/>
              </a:ext>
            </a:extLst>
          </p:cNvPr>
          <p:cNvSpPr>
            <a:spLocks noChangeArrowheads="1"/>
          </p:cNvSpPr>
          <p:nvPr/>
        </p:nvSpPr>
        <p:spPr bwMode="auto">
          <a:xfrm>
            <a:off x="3078918" y="5047255"/>
            <a:ext cx="564763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1400" b="0" i="0" u="none" strike="noStrike" cap="none" normalizeH="0" baseline="0" dirty="0">
                <a:ln>
                  <a:noFill/>
                </a:ln>
                <a:solidFill>
                  <a:schemeClr val="tx1"/>
                </a:solidFill>
                <a:effectLst/>
                <a:latin typeface="Arial" panose="020B0604020202020204" pitchFamily="34" charset="0"/>
              </a:rPr>
              <a:t>P = Persepsjon og fortolkning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nb-NO" altLang="nb-NO"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b-NO" altLang="nb-N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b-NO" altLang="nb-NO" sz="800" b="0" i="0" u="sng"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Kilde:</a:t>
            </a:r>
            <a:r>
              <a:rPr lang="nb-NO" altLang="nb-NO" sz="400" dirty="0"/>
              <a:t> </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Rune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Mon</a:t>
            </a:r>
            <a:r>
              <a:rPr kumimoji="0" lang="nb-NO" altLang="nb-NO" sz="800" b="0" i="0" u="none" strike="noStrike" cap="none" normalizeH="0" baseline="0" dirty="0" err="1">
                <a:ln>
                  <a:noFill/>
                </a:ln>
                <a:solidFill>
                  <a:srgbClr val="275317"/>
                </a:solidFill>
                <a:effectLst/>
                <a:latin typeface="Aptos" panose="020B0004020202020204" pitchFamily="34" charset="0"/>
                <a:ea typeface="Times New Roman" panose="02020603050405020304" pitchFamily="18" charset="0"/>
                <a:cs typeface="Arial" panose="020B0604020202020204" pitchFamily="34" charset="0"/>
              </a:rPr>
              <a:t>ö</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Design for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product</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understanding</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The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Aestetics</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od Design from a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Semiotic</a:t>
            </a:r>
            <a:r>
              <a:rPr kumimoji="0" lang="nb-NO"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 </a:t>
            </a:r>
            <a:r>
              <a:rPr kumimoji="0" lang="nb-NO"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Approach</a:t>
            </a:r>
            <a:r>
              <a:rPr lang="nb-NO" altLang="nb-NO" sz="800" dirty="0">
                <a:solidFill>
                  <a:srgbClr val="275317"/>
                </a:solidFill>
                <a:latin typeface="Arial" panose="020B0604020202020204" pitchFamily="34" charset="0"/>
                <a:ea typeface="Times New Roman" panose="02020603050405020304" pitchFamily="18" charset="0"/>
                <a:cs typeface="Arial" panose="020B0604020202020204" pitchFamily="34" charset="0"/>
              </a:rPr>
              <a:t>, </a:t>
            </a:r>
            <a:r>
              <a:rPr kumimoji="0" lang="en-US" altLang="nb-NO" sz="800" b="0" i="0" u="none" strike="noStrike" cap="none" normalizeH="0" baseline="0" dirty="0">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Liber </a:t>
            </a:r>
            <a:r>
              <a:rPr kumimoji="0" lang="en-US" altLang="nb-NO" sz="800" b="0" i="0" u="none" strike="noStrike" cap="none" normalizeH="0" baseline="0" dirty="0" err="1">
                <a:ln>
                  <a:noFill/>
                </a:ln>
                <a:solidFill>
                  <a:srgbClr val="275317"/>
                </a:solidFill>
                <a:effectLst/>
                <a:latin typeface="Arial" panose="020B0604020202020204" pitchFamily="34" charset="0"/>
                <a:ea typeface="Times New Roman" panose="02020603050405020304" pitchFamily="18" charset="0"/>
                <a:cs typeface="Arial" panose="020B0604020202020204" pitchFamily="34" charset="0"/>
              </a:rPr>
              <a:t>Forlag</a:t>
            </a:r>
            <a:endParaRPr kumimoji="0" lang="en-US" altLang="nb-N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3691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402F8-AE98-6A22-86DC-A72D381512A0}"/>
            </a:ext>
          </a:extLst>
        </p:cNvPr>
        <p:cNvGrpSpPr/>
        <p:nvPr/>
      </p:nvGrpSpPr>
      <p:grpSpPr>
        <a:xfrm>
          <a:off x="0" y="0"/>
          <a:ext cx="0" cy="0"/>
          <a:chOff x="0" y="0"/>
          <a:chExt cx="0" cy="0"/>
        </a:xfrm>
      </p:grpSpPr>
      <p:pic>
        <p:nvPicPr>
          <p:cNvPr id="3" name="Picture 2" descr="A close-up of a faucet handle&#10;&#10;Description automatically generated">
            <a:extLst>
              <a:ext uri="{FF2B5EF4-FFF2-40B4-BE49-F238E27FC236}">
                <a16:creationId xmlns:a16="http://schemas.microsoft.com/office/drawing/2014/main" id="{8DEE9B0F-D789-09E7-5BF6-594D48359E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3708" y="215348"/>
            <a:ext cx="4774344" cy="4774344"/>
          </a:xfrm>
          <a:prstGeom prst="rect">
            <a:avLst/>
          </a:prstGeom>
          <a:noFill/>
          <a:ln>
            <a:noFill/>
          </a:ln>
        </p:spPr>
      </p:pic>
      <p:sp>
        <p:nvSpPr>
          <p:cNvPr id="5" name="TextBox 4">
            <a:extLst>
              <a:ext uri="{FF2B5EF4-FFF2-40B4-BE49-F238E27FC236}">
                <a16:creationId xmlns:a16="http://schemas.microsoft.com/office/drawing/2014/main" id="{88C86763-B44B-228B-D380-DCD23D8B4233}"/>
              </a:ext>
            </a:extLst>
          </p:cNvPr>
          <p:cNvSpPr txBox="1"/>
          <p:nvPr/>
        </p:nvSpPr>
        <p:spPr>
          <a:xfrm>
            <a:off x="4293705" y="4558168"/>
            <a:ext cx="6096000" cy="1078950"/>
          </a:xfrm>
          <a:prstGeom prst="rect">
            <a:avLst/>
          </a:prstGeom>
          <a:noFill/>
        </p:spPr>
        <p:txBody>
          <a:bodyPr wrap="square">
            <a:spAutoFit/>
          </a:bodyPr>
          <a:lstStyle/>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forteller dette produktet meg?</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skal jeg gjøre?</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Hvordan forteller dette produktet meg hva jeg skal gjøre?</a:t>
            </a:r>
            <a:endParaRPr lang="nb-NO"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12663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DBD1-9122-5179-CB30-AE7990CB9D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A1E9BF-3438-864A-33E5-34564F7235FA}"/>
              </a:ext>
            </a:extLst>
          </p:cNvPr>
          <p:cNvSpPr txBox="1"/>
          <p:nvPr/>
        </p:nvSpPr>
        <p:spPr>
          <a:xfrm>
            <a:off x="4293705" y="4558168"/>
            <a:ext cx="6096000" cy="1078950"/>
          </a:xfrm>
          <a:prstGeom prst="rect">
            <a:avLst/>
          </a:prstGeom>
          <a:noFill/>
        </p:spPr>
        <p:txBody>
          <a:bodyPr wrap="square">
            <a:spAutoFit/>
          </a:bodyPr>
          <a:lstStyle/>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forteller dette produktet meg?</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skal jeg gjøre?</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Hvordan forteller dette produktet meg hva jeg skal gjøre?</a:t>
            </a:r>
            <a:endParaRPr lang="nb-NO" sz="1600" kern="100" dirty="0">
              <a:effectLst/>
              <a:ea typeface="Aptos" panose="020B0004020202020204" pitchFamily="34" charset="0"/>
              <a:cs typeface="Times New Roman" panose="02020603050405020304" pitchFamily="18" charset="0"/>
            </a:endParaRPr>
          </a:p>
        </p:txBody>
      </p:sp>
      <p:pic>
        <p:nvPicPr>
          <p:cNvPr id="2" name="Picture 1" descr="A close-up of a switch&#10;&#10;Description automatically generated">
            <a:extLst>
              <a:ext uri="{FF2B5EF4-FFF2-40B4-BE49-F238E27FC236}">
                <a16:creationId xmlns:a16="http://schemas.microsoft.com/office/drawing/2014/main" id="{866D272B-685B-F34F-F15E-52639B93BE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1337" t="4116" r="19007" b="-4116"/>
          <a:stretch/>
        </p:blipFill>
        <p:spPr bwMode="auto">
          <a:xfrm>
            <a:off x="4293705" y="1382726"/>
            <a:ext cx="3168015" cy="307213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19830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47904-FD4A-CE60-7007-77AAE273A9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F752F9-BDF2-C6C6-ED12-5999BFCE85E3}"/>
              </a:ext>
            </a:extLst>
          </p:cNvPr>
          <p:cNvSpPr txBox="1"/>
          <p:nvPr/>
        </p:nvSpPr>
        <p:spPr>
          <a:xfrm>
            <a:off x="4293705" y="4558168"/>
            <a:ext cx="6096000" cy="1078950"/>
          </a:xfrm>
          <a:prstGeom prst="rect">
            <a:avLst/>
          </a:prstGeom>
          <a:noFill/>
        </p:spPr>
        <p:txBody>
          <a:bodyPr wrap="square">
            <a:spAutoFit/>
          </a:bodyPr>
          <a:lstStyle/>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forteller dette produktet meg?</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Hva skal jeg gjøre?</a:t>
            </a:r>
            <a:endParaRPr lang="nb-NO" sz="1600" kern="100" dirty="0">
              <a:effectLst/>
              <a:ea typeface="Aptos" panose="020B0004020202020204" pitchFamily="34" charset="0"/>
              <a:cs typeface="Times New Roman" panose="02020603050405020304" pitchFamily="18" charset="0"/>
            </a:endParaRPr>
          </a:p>
          <a:p>
            <a:pPr>
              <a:lnSpc>
                <a:spcPct val="107000"/>
              </a:lnSpc>
              <a:spcAft>
                <a:spcPts val="800"/>
              </a:spcAft>
              <a:buNone/>
              <a:tabLst>
                <a:tab pos="1468120" algn="l"/>
              </a:tabLst>
            </a:pPr>
            <a:r>
              <a:rPr lang="nb-NO" sz="1600" kern="0" dirty="0">
                <a:solidFill>
                  <a:srgbClr val="275317"/>
                </a:solidFill>
                <a:effectLst/>
                <a:ea typeface="Times New Roman" panose="02020603050405020304" pitchFamily="18" charset="0"/>
                <a:cs typeface="Times New Roman" panose="02020603050405020304" pitchFamily="18" charset="0"/>
              </a:rPr>
              <a:t>Hvordan forteller dette produktet meg hva jeg skal gjøre?</a:t>
            </a:r>
            <a:endParaRPr lang="nb-NO" sz="1600" kern="100" dirty="0">
              <a:effectLst/>
              <a:ea typeface="Aptos" panose="020B0004020202020204" pitchFamily="34" charset="0"/>
              <a:cs typeface="Times New Roman" panose="02020603050405020304" pitchFamily="18" charset="0"/>
            </a:endParaRPr>
          </a:p>
        </p:txBody>
      </p:sp>
      <p:pic>
        <p:nvPicPr>
          <p:cNvPr id="3" name="Picture 2" descr="Stoppbryter til minidumper Rudolf">
            <a:extLst>
              <a:ext uri="{FF2B5EF4-FFF2-40B4-BE49-F238E27FC236}">
                <a16:creationId xmlns:a16="http://schemas.microsoft.com/office/drawing/2014/main" id="{CBAC63E9-FDEF-8C4F-A8B7-04911BD8E5B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9122" y="711916"/>
            <a:ext cx="2839817" cy="3786423"/>
          </a:xfrm>
          <a:prstGeom prst="rect">
            <a:avLst/>
          </a:prstGeom>
          <a:noFill/>
          <a:ln>
            <a:noFill/>
          </a:ln>
        </p:spPr>
      </p:pic>
    </p:spTree>
    <p:extLst>
      <p:ext uri="{BB962C8B-B14F-4D97-AF65-F5344CB8AC3E}">
        <p14:creationId xmlns:p14="http://schemas.microsoft.com/office/powerpoint/2010/main" val="1063583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49B54-6FB4-815F-758B-D0ABC1E694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48FD4E-F208-6400-4AA0-798F2258CB6C}"/>
              </a:ext>
            </a:extLst>
          </p:cNvPr>
          <p:cNvSpPr txBox="1"/>
          <p:nvPr/>
        </p:nvSpPr>
        <p:spPr>
          <a:xfrm>
            <a:off x="1497496" y="692276"/>
            <a:ext cx="9561443" cy="5345951"/>
          </a:xfrm>
          <a:prstGeom prst="rect">
            <a:avLst/>
          </a:prstGeom>
          <a:noFill/>
        </p:spPr>
        <p:txBody>
          <a:bodyPr wrap="square">
            <a:spAutoFit/>
          </a:bodyPr>
          <a:lstStyle/>
          <a:p>
            <a:pPr>
              <a:lnSpc>
                <a:spcPct val="107000"/>
              </a:lnSpc>
              <a:spcAft>
                <a:spcPts val="800"/>
              </a:spcAft>
              <a:buNone/>
              <a:tabLst>
                <a:tab pos="1468120" algn="l"/>
              </a:tabLst>
            </a:pPr>
            <a:r>
              <a:rPr lang="nb-NO" sz="3600" b="1"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Øvingsoppgave, form: trykke – skyve - vri</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373737"/>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Denne øvingsoppgaven fokuserer på produktsemantikk, og hvordan vi signaliserer en handling og legger til rette for en interaksjon mellom menneske og produkt. </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Fellesbetegnelsen for de fysiske løsningene er ‘betjeningsorgan’. Ordet ‘knapp’ som journalisten bruker i den beskrevne testen er ikke et tilstrekkelig presist eller dekkende begrep.</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Hver av de tre typiske funksjonene (handlingene) trykke, skyve, vri kan muliggjøres ved utforming av et betjeningsorgan tilpasset den enkelte funksjonen. Betjeningsorganet bør ha et formmessig uttrykk som er tilpasset den aktuelle funksjonen:</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nb-NO" sz="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nb-NO" sz="1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Trykke – trykkbryter o.l.</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Skyve – skyvebryter / spak o.l.</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Vri – dreiebryter / ratt o.l.</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61982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CE821-FD51-AA8A-BB99-798AC18FC6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E6EA15-EBF2-12EB-B5A8-99EA690A0CEA}"/>
              </a:ext>
            </a:extLst>
          </p:cNvPr>
          <p:cNvSpPr txBox="1"/>
          <p:nvPr/>
        </p:nvSpPr>
        <p:spPr>
          <a:xfrm>
            <a:off x="1497497" y="640781"/>
            <a:ext cx="9859616" cy="5371279"/>
          </a:xfrm>
          <a:prstGeom prst="rect">
            <a:avLst/>
          </a:prstGeom>
          <a:noFill/>
        </p:spPr>
        <p:txBody>
          <a:bodyPr wrap="square">
            <a:spAutoFit/>
          </a:bodyPr>
          <a:lstStyle/>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Valg av type betjeningsorgan styres som regel av type funksjon, men også av valgt teknologi. Utgangspunktet er samhandlingen som skjer mellom menneske (bruker), og maskin (objekt). Gjennom en behovsanalyse kan man identifisere behovet for ulike funksjoner i et produkt, og prioritere disse etter viktighet. </a:t>
            </a:r>
          </a:p>
          <a:p>
            <a:pPr>
              <a:lnSpc>
                <a:spcPct val="107000"/>
              </a:lnSpc>
              <a:spcAft>
                <a:spcPts val="800"/>
              </a:spcAft>
              <a:buNone/>
            </a:pP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En funksjon kan materialiseres i et betjeningsorgan ved at </a:t>
            </a:r>
            <a:r>
              <a:rPr lang="nb-NO" sz="1800" i="1"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brukerens aksjon (input)</a:t>
            </a:r>
            <a:r>
              <a:rPr lang="nb-NO" sz="1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resulterer i en </a:t>
            </a:r>
            <a:r>
              <a:rPr lang="nb-NO" sz="1800" i="1"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reaksjon (output).</a:t>
            </a:r>
            <a:r>
              <a:rPr lang="nb-NO" sz="1800"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Forholdet mellom aksjon og reaksjon ivaretas gjerne gjennom egnet og hensiktsmessig teknologi som løser (utfører) den spesifikke funksjonen, og som sørger for en taktil feedback, dvs. en verifisering gjennom respons. </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På grunn av begrenset tid stilles det i denne oppgaven IKKE krav til at betjeningsorganet skal gi taktil feedback.</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Dere skal øve på å formidle funksjonen gjennom et forståelig formuttrykk, dvs. et semantisk grep for å muliggjøre oppfatning og forståelse (persepsjon). Gruppen skal utforme forslag til </a:t>
            </a:r>
            <a:r>
              <a:rPr lang="nb-NO" sz="1800" kern="0" dirty="0" err="1">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formutttrykk</a:t>
            </a: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 som signaliserer og </a:t>
            </a:r>
            <a:r>
              <a:rPr lang="nb-NO" sz="1800" kern="0" dirty="0" err="1">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fasiliterer</a:t>
            </a: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 en bestemt handling på en tydeligst mulig måte.</a:t>
            </a:r>
          </a:p>
          <a:p>
            <a:pPr>
              <a:lnSpc>
                <a:spcPct val="107000"/>
              </a:lnSpc>
              <a:spcAft>
                <a:spcPts val="800"/>
              </a:spcAft>
              <a:buNone/>
            </a:pP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nb-NO" sz="1800" kern="0" dirty="0">
                <a:solidFill>
                  <a:srgbClr val="275317"/>
                </a:solidFill>
                <a:effectLst/>
                <a:latin typeface="Arial" panose="020B0604020202020204" pitchFamily="34" charset="0"/>
                <a:ea typeface="Times New Roman" panose="02020603050405020304" pitchFamily="18" charset="0"/>
                <a:cs typeface="Times New Roman" panose="02020603050405020304" pitchFamily="18" charset="0"/>
              </a:rPr>
              <a:t>Kort fortalt: </a:t>
            </a:r>
            <a:r>
              <a:rPr lang="nb-NO" sz="1800" i="1" kern="0" dirty="0">
                <a:solidFill>
                  <a:srgbClr val="C00000"/>
                </a:solidFill>
                <a:effectLst/>
                <a:latin typeface="Arial" panose="020B0604020202020204" pitchFamily="34" charset="0"/>
                <a:ea typeface="Times New Roman" panose="02020603050405020304" pitchFamily="18" charset="0"/>
                <a:cs typeface="Times New Roman" panose="02020603050405020304" pitchFamily="18" charset="0"/>
              </a:rPr>
              <a:t>Hvordan forteller betjeningsorganet meg hva jeg skal gjøre?</a:t>
            </a:r>
            <a:endParaRPr lang="nb-NO"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93797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FF44-1855-F05F-3E72-8919D039EB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287578-22EE-0BAA-0AA4-66DFBDE3BF4E}"/>
              </a:ext>
            </a:extLst>
          </p:cNvPr>
          <p:cNvSpPr txBox="1"/>
          <p:nvPr/>
        </p:nvSpPr>
        <p:spPr>
          <a:xfrm>
            <a:off x="1630016" y="441667"/>
            <a:ext cx="10025269" cy="4967065"/>
          </a:xfrm>
          <a:prstGeom prst="rect">
            <a:avLst/>
          </a:prstGeom>
          <a:noFill/>
        </p:spPr>
        <p:txBody>
          <a:bodyPr wrap="square">
            <a:spAutoFit/>
          </a:bodyPr>
          <a:lstStyle/>
          <a:p>
            <a:pPr>
              <a:lnSpc>
                <a:spcPct val="107000"/>
              </a:lnSpc>
              <a:spcAft>
                <a:spcPts val="800"/>
              </a:spcAft>
              <a:buNone/>
            </a:pPr>
            <a:r>
              <a:rPr lang="nb-NO" sz="2400" b="1" kern="0" dirty="0">
                <a:solidFill>
                  <a:srgbClr val="C00000"/>
                </a:solidFill>
                <a:ea typeface="Times New Roman" panose="02020603050405020304" pitchFamily="18" charset="0"/>
                <a:cs typeface="Times New Roman" panose="02020603050405020304" pitchFamily="18" charset="0"/>
              </a:rPr>
              <a:t>Opplegg og regi</a:t>
            </a:r>
            <a:endParaRPr lang="nb-NO" sz="2400" b="1"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0" dirty="0">
                <a:solidFill>
                  <a:srgbClr val="C00000"/>
                </a:solidFill>
                <a:effectLst/>
                <a:ea typeface="Times New Roman" panose="02020603050405020304" pitchFamily="18" charset="0"/>
                <a:cs typeface="Times New Roman" panose="02020603050405020304" pitchFamily="18" charset="0"/>
              </a:rPr>
              <a:t>Format: 3 studenter pr. gruppe – til sammen 12 grupper</a:t>
            </a:r>
            <a:endParaRPr lang="nb-NO" sz="1400" kern="100" dirty="0">
              <a:effectLst/>
              <a:ea typeface="Aptos" panose="020B0004020202020204" pitchFamily="34" charset="0"/>
              <a:cs typeface="Times New Roman" panose="02020603050405020304" pitchFamily="18" charset="0"/>
            </a:endParaRPr>
          </a:p>
          <a:p>
            <a:pPr>
              <a:lnSpc>
                <a:spcPct val="107000"/>
              </a:lnSpc>
              <a:spcAft>
                <a:spcPts val="800"/>
              </a:spcAft>
              <a:buNone/>
            </a:pPr>
            <a:endParaRPr lang="nb-NO" sz="800" b="1" kern="0" dirty="0">
              <a:solidFill>
                <a:srgbClr val="C00000"/>
              </a:solidFill>
              <a:ea typeface="Times New Roman" panose="02020603050405020304" pitchFamily="18" charset="0"/>
              <a:cs typeface="Times New Roman" panose="02020603050405020304" pitchFamily="18" charset="0"/>
            </a:endParaRPr>
          </a:p>
          <a:p>
            <a:pPr>
              <a:lnSpc>
                <a:spcPct val="107000"/>
              </a:lnSpc>
              <a:spcAft>
                <a:spcPts val="800"/>
              </a:spcAft>
              <a:buNone/>
            </a:pPr>
            <a:r>
              <a:rPr lang="nb-NO" sz="1400" b="1" kern="0" dirty="0">
                <a:solidFill>
                  <a:srgbClr val="C00000"/>
                </a:solidFill>
                <a:ea typeface="Times New Roman" panose="02020603050405020304" pitchFamily="18" charset="0"/>
                <a:cs typeface="Times New Roman" panose="02020603050405020304" pitchFamily="18" charset="0"/>
              </a:rPr>
              <a:t>Man</a:t>
            </a:r>
            <a:r>
              <a:rPr lang="nb-NO" sz="1400" b="1" kern="0" dirty="0">
                <a:solidFill>
                  <a:srgbClr val="C00000"/>
                </a:solidFill>
                <a:effectLst/>
                <a:ea typeface="Times New Roman" panose="02020603050405020304" pitchFamily="18" charset="0"/>
                <a:cs typeface="Times New Roman" panose="02020603050405020304" pitchFamily="18" charset="0"/>
              </a:rPr>
              <a:t>dag </a:t>
            </a:r>
            <a:r>
              <a:rPr lang="nb-NO" sz="1400" b="1" kern="0" dirty="0">
                <a:solidFill>
                  <a:srgbClr val="C00000"/>
                </a:solidFill>
                <a:ea typeface="Times New Roman" panose="02020603050405020304" pitchFamily="18" charset="0"/>
                <a:cs typeface="Times New Roman" panose="02020603050405020304" pitchFamily="18" charset="0"/>
              </a:rPr>
              <a:t>27</a:t>
            </a:r>
            <a:r>
              <a:rPr lang="nb-NO" sz="1400" b="1" kern="0" dirty="0">
                <a:solidFill>
                  <a:srgbClr val="C00000"/>
                </a:solidFill>
                <a:effectLst/>
                <a:ea typeface="Times New Roman" panose="02020603050405020304" pitchFamily="18" charset="0"/>
                <a:cs typeface="Times New Roman" panose="02020603050405020304" pitchFamily="18" charset="0"/>
              </a:rPr>
              <a:t>. april kl. 13:00</a:t>
            </a:r>
            <a:endParaRPr lang="nb-NO" sz="1400" kern="100" dirty="0">
              <a:solidFill>
                <a:schemeClr val="accent6">
                  <a:lumMod val="50000"/>
                </a:schemeClr>
              </a:solidFill>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0" dirty="0">
                <a:solidFill>
                  <a:srgbClr val="275317"/>
                </a:solidFill>
                <a:effectLst/>
                <a:ea typeface="Times New Roman" panose="02020603050405020304" pitchFamily="18" charset="0"/>
                <a:cs typeface="Times New Roman" panose="02020603050405020304" pitchFamily="18" charset="0"/>
              </a:rPr>
              <a:t>1. Hver student i gruppen tegner minimum 3 skisser på hver av de 3 funksjonene </a:t>
            </a:r>
            <a:r>
              <a:rPr lang="nb-NO" sz="1400" i="1" kern="0" dirty="0">
                <a:solidFill>
                  <a:srgbClr val="275317"/>
                </a:solidFill>
                <a:effectLst/>
                <a:ea typeface="Times New Roman" panose="02020603050405020304" pitchFamily="18" charset="0"/>
                <a:cs typeface="Times New Roman" panose="02020603050405020304" pitchFamily="18" charset="0"/>
              </a:rPr>
              <a:t>trykke - skyve </a:t>
            </a:r>
            <a:r>
              <a:rPr lang="nb-NO" sz="1400" kern="100" dirty="0">
                <a:ea typeface="Times New Roman" panose="02020603050405020304" pitchFamily="18" charset="0"/>
                <a:cs typeface="Times New Roman" panose="02020603050405020304" pitchFamily="18" charset="0"/>
              </a:rPr>
              <a:t>– </a:t>
            </a:r>
            <a:r>
              <a:rPr lang="nb-NO" sz="1400" i="1" kern="0" dirty="0">
                <a:solidFill>
                  <a:srgbClr val="275317"/>
                </a:solidFill>
                <a:effectLst/>
                <a:ea typeface="Times New Roman" panose="02020603050405020304" pitchFamily="18" charset="0"/>
                <a:cs typeface="Times New Roman" panose="02020603050405020304" pitchFamily="18" charset="0"/>
              </a:rPr>
              <a:t>vri</a:t>
            </a:r>
            <a:r>
              <a:rPr lang="nb-NO" sz="1400" kern="100" dirty="0">
                <a:ea typeface="Times New Roman" panose="02020603050405020304" pitchFamily="18" charset="0"/>
                <a:cs typeface="Times New Roman" panose="02020603050405020304" pitchFamily="18" charset="0"/>
              </a:rPr>
              <a:t>                                                  </a:t>
            </a:r>
            <a:r>
              <a:rPr lang="nb-NO" sz="1400" i="1" kern="0" dirty="0">
                <a:solidFill>
                  <a:srgbClr val="275317"/>
                </a:solidFill>
                <a:effectLst/>
                <a:ea typeface="Times New Roman" panose="02020603050405020304" pitchFamily="18" charset="0"/>
                <a:cs typeface="Times New Roman" panose="02020603050405020304" pitchFamily="18" charset="0"/>
              </a:rPr>
              <a:t>(tilsammen 27 skisser pr. gruppe)</a:t>
            </a:r>
            <a:r>
              <a:rPr lang="nb-NO" sz="1400" i="1" kern="0" dirty="0">
                <a:solidFill>
                  <a:srgbClr val="275317"/>
                </a:solidFill>
                <a:ea typeface="Times New Roman" panose="02020603050405020304" pitchFamily="18" charset="0"/>
                <a:cs typeface="Times New Roman" panose="02020603050405020304" pitchFamily="18" charset="0"/>
              </a:rPr>
              <a:t>. </a:t>
            </a:r>
            <a:r>
              <a:rPr lang="nb-NO" sz="1400" kern="0" dirty="0">
                <a:solidFill>
                  <a:srgbClr val="275317"/>
                </a:solidFill>
                <a:effectLst/>
                <a:ea typeface="Times New Roman" panose="02020603050405020304" pitchFamily="18" charset="0"/>
                <a:cs typeface="Times New Roman" panose="02020603050405020304" pitchFamily="18" charset="0"/>
              </a:rPr>
              <a:t>‘</a:t>
            </a:r>
            <a:r>
              <a:rPr lang="nb-NO" sz="1400" kern="0" dirty="0" err="1">
                <a:solidFill>
                  <a:srgbClr val="275317"/>
                </a:solidFill>
                <a:effectLst/>
                <a:ea typeface="Times New Roman" panose="02020603050405020304" pitchFamily="18" charset="0"/>
                <a:cs typeface="Times New Roman" panose="02020603050405020304" pitchFamily="18" charset="0"/>
              </a:rPr>
              <a:t>Designbrief</a:t>
            </a:r>
            <a:r>
              <a:rPr lang="nb-NO" sz="1400" kern="0" dirty="0">
                <a:solidFill>
                  <a:srgbClr val="275317"/>
                </a:solidFill>
                <a:effectLst/>
                <a:ea typeface="Times New Roman" panose="02020603050405020304" pitchFamily="18" charset="0"/>
                <a:cs typeface="Times New Roman" panose="02020603050405020304" pitchFamily="18" charset="0"/>
              </a:rPr>
              <a:t>’: </a:t>
            </a:r>
            <a:r>
              <a:rPr lang="nb-NO" sz="1400" i="1" kern="0" dirty="0">
                <a:solidFill>
                  <a:srgbClr val="275317"/>
                </a:solidFill>
                <a:effectLst/>
                <a:ea typeface="Times New Roman" panose="02020603050405020304" pitchFamily="18" charset="0"/>
                <a:cs typeface="Times New Roman" panose="02020603050405020304" pitchFamily="18" charset="0"/>
              </a:rPr>
              <a:t>Hvilken form uttrykker hver av disse handlingene best? Hvorfor?</a:t>
            </a:r>
            <a:endParaRPr lang="nb-NO" sz="14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0" dirty="0">
                <a:solidFill>
                  <a:srgbClr val="275317"/>
                </a:solidFill>
                <a:effectLst/>
                <a:ea typeface="Times New Roman" panose="02020603050405020304" pitchFamily="18" charset="0"/>
                <a:cs typeface="Times New Roman" panose="02020603050405020304" pitchFamily="18" charset="0"/>
              </a:rPr>
              <a:t>2. Gruppen velger de 3 -tre- beste utformingene </a:t>
            </a:r>
            <a:r>
              <a:rPr lang="nb-NO" sz="1400" kern="0" dirty="0">
                <a:solidFill>
                  <a:srgbClr val="275317"/>
                </a:solidFill>
                <a:ea typeface="Times New Roman" panose="02020603050405020304" pitchFamily="18" charset="0"/>
                <a:cs typeface="Times New Roman" panose="02020603050405020304" pitchFamily="18" charset="0"/>
              </a:rPr>
              <a:t>av</a:t>
            </a:r>
            <a:r>
              <a:rPr lang="nb-NO" sz="1400" kern="0" dirty="0">
                <a:solidFill>
                  <a:srgbClr val="275317"/>
                </a:solidFill>
                <a:effectLst/>
                <a:ea typeface="Times New Roman" panose="02020603050405020304" pitchFamily="18" charset="0"/>
                <a:cs typeface="Times New Roman" panose="02020603050405020304" pitchFamily="18" charset="0"/>
              </a:rPr>
              <a:t> hver funksjon</a:t>
            </a:r>
            <a:endParaRPr lang="nb-NO" sz="14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0" dirty="0">
                <a:solidFill>
                  <a:srgbClr val="275317"/>
                </a:solidFill>
                <a:effectLst/>
                <a:ea typeface="Times New Roman" panose="02020603050405020304" pitchFamily="18" charset="0"/>
                <a:cs typeface="Times New Roman" panose="02020603050405020304" pitchFamily="18" charset="0"/>
              </a:rPr>
              <a:t>3. Oppstart modellbygging. Gruppen skal bygge 3 modeller av hver av de 3</a:t>
            </a:r>
            <a:r>
              <a:rPr lang="nb-NO" sz="1400" kern="100" dirty="0">
                <a:ea typeface="Times New Roman" panose="02020603050405020304" pitchFamily="18" charset="0"/>
                <a:cs typeface="Times New Roman" panose="02020603050405020304" pitchFamily="18" charset="0"/>
              </a:rPr>
              <a:t> </a:t>
            </a:r>
            <a:r>
              <a:rPr lang="nb-NO" sz="1400" kern="0" dirty="0">
                <a:solidFill>
                  <a:srgbClr val="275317"/>
                </a:solidFill>
                <a:effectLst/>
                <a:ea typeface="Times New Roman" panose="02020603050405020304" pitchFamily="18" charset="0"/>
                <a:cs typeface="Times New Roman" panose="02020603050405020304" pitchFamily="18" charset="0"/>
              </a:rPr>
              <a:t>funksjonene. (til sammen 9 stk.). Modellen bør fungere, dvs. gjengi den ønskede</a:t>
            </a:r>
            <a:r>
              <a:rPr lang="nb-NO" sz="1400" kern="100" dirty="0">
                <a:ea typeface="Times New Roman" panose="02020603050405020304" pitchFamily="18" charset="0"/>
                <a:cs typeface="Times New Roman" panose="02020603050405020304" pitchFamily="18" charset="0"/>
              </a:rPr>
              <a:t> </a:t>
            </a:r>
            <a:r>
              <a:rPr lang="nb-NO" sz="1400" kern="0" dirty="0">
                <a:solidFill>
                  <a:srgbClr val="275317"/>
                </a:solidFill>
                <a:effectLst/>
                <a:ea typeface="Times New Roman" panose="02020603050405020304" pitchFamily="18" charset="0"/>
                <a:cs typeface="Times New Roman" panose="02020603050405020304" pitchFamily="18" charset="0"/>
              </a:rPr>
              <a:t>bevegelsen. Materiale: </a:t>
            </a:r>
            <a:r>
              <a:rPr lang="nb-NO" sz="1400" kern="0" dirty="0">
                <a:solidFill>
                  <a:srgbClr val="275317"/>
                </a:solidFill>
                <a:ea typeface="Times New Roman" panose="02020603050405020304" pitchFamily="18" charset="0"/>
                <a:cs typeface="Times New Roman" panose="02020603050405020304" pitchFamily="18" charset="0"/>
              </a:rPr>
              <a:t>G</a:t>
            </a:r>
            <a:r>
              <a:rPr lang="nb-NO" sz="1400" kern="0" dirty="0">
                <a:solidFill>
                  <a:srgbClr val="275317"/>
                </a:solidFill>
                <a:effectLst/>
                <a:ea typeface="Times New Roman" panose="02020603050405020304" pitchFamily="18" charset="0"/>
                <a:cs typeface="Times New Roman" panose="02020603050405020304" pitchFamily="18" charset="0"/>
              </a:rPr>
              <a:t>rønt </a:t>
            </a:r>
            <a:r>
              <a:rPr lang="nb-NO" sz="1400" kern="0" dirty="0" err="1">
                <a:solidFill>
                  <a:srgbClr val="275317"/>
                </a:solidFill>
                <a:effectLst/>
                <a:ea typeface="Times New Roman" panose="02020603050405020304" pitchFamily="18" charset="0"/>
                <a:cs typeface="Times New Roman" panose="02020603050405020304" pitchFamily="18" charset="0"/>
              </a:rPr>
              <a:t>Cibatool</a:t>
            </a:r>
            <a:r>
              <a:rPr lang="nb-NO" sz="1400" kern="0" dirty="0">
                <a:solidFill>
                  <a:srgbClr val="275317"/>
                </a:solidFill>
                <a:effectLst/>
                <a:ea typeface="Times New Roman" panose="02020603050405020304" pitchFamily="18" charset="0"/>
                <a:cs typeface="Times New Roman" panose="02020603050405020304" pitchFamily="18" charset="0"/>
              </a:rPr>
              <a:t> skum + evt. tilleggsmateriale ved behov.  </a:t>
            </a:r>
          </a:p>
          <a:p>
            <a:pPr>
              <a:lnSpc>
                <a:spcPct val="107000"/>
              </a:lnSpc>
              <a:spcAft>
                <a:spcPts val="800"/>
              </a:spcAft>
              <a:buNone/>
            </a:pPr>
            <a:endParaRPr lang="nb-NO" sz="8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b="1" kern="100" dirty="0">
                <a:solidFill>
                  <a:srgbClr val="C00000"/>
                </a:solidFill>
                <a:ea typeface="Aptos" panose="020B0004020202020204" pitchFamily="34" charset="0"/>
                <a:cs typeface="Times New Roman" panose="02020603050405020304" pitchFamily="18" charset="0"/>
              </a:rPr>
              <a:t>Tirs</a:t>
            </a:r>
            <a:r>
              <a:rPr lang="nb-NO" sz="1400" b="1" kern="100" dirty="0">
                <a:solidFill>
                  <a:srgbClr val="C00000"/>
                </a:solidFill>
                <a:effectLst/>
                <a:ea typeface="Aptos" panose="020B0004020202020204" pitchFamily="34" charset="0"/>
                <a:cs typeface="Times New Roman" panose="02020603050405020304" pitchFamily="18" charset="0"/>
              </a:rPr>
              <a:t>dag 28. mai</a:t>
            </a:r>
          </a:p>
          <a:p>
            <a:pPr>
              <a:lnSpc>
                <a:spcPct val="107000"/>
              </a:lnSpc>
              <a:spcAft>
                <a:spcPts val="800"/>
              </a:spcAft>
              <a:buNone/>
            </a:pPr>
            <a:r>
              <a:rPr lang="nb-NO" sz="1400" kern="100" dirty="0">
                <a:solidFill>
                  <a:srgbClr val="275317"/>
                </a:solidFill>
                <a:ea typeface="Aptos" panose="020B0004020202020204" pitchFamily="34" charset="0"/>
                <a:cs typeface="Times New Roman" panose="02020603050405020304" pitchFamily="18" charset="0"/>
              </a:rPr>
              <a:t>09.00- 14:00 B</a:t>
            </a:r>
            <a:r>
              <a:rPr lang="nb-NO" sz="1400" kern="100" dirty="0">
                <a:solidFill>
                  <a:srgbClr val="275317"/>
                </a:solidFill>
                <a:effectLst/>
                <a:ea typeface="Aptos" panose="020B0004020202020204" pitchFamily="34" charset="0"/>
                <a:cs typeface="Times New Roman" panose="02020603050405020304" pitchFamily="18" charset="0"/>
              </a:rPr>
              <a:t>ygge og ferdigstille modeller på plastverkstedet</a:t>
            </a:r>
            <a:endParaRPr lang="nb-NO" sz="14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100" dirty="0">
                <a:solidFill>
                  <a:srgbClr val="275317"/>
                </a:solidFill>
                <a:ea typeface="Aptos" panose="020B0004020202020204" pitchFamily="34" charset="0"/>
                <a:cs typeface="Times New Roman" panose="02020603050405020304" pitchFamily="18" charset="0"/>
              </a:rPr>
              <a:t>14:00</a:t>
            </a:r>
            <a:r>
              <a:rPr lang="nb-NO" sz="1400" kern="100" dirty="0">
                <a:solidFill>
                  <a:srgbClr val="275317"/>
                </a:solidFill>
                <a:effectLst/>
                <a:ea typeface="Aptos" panose="020B0004020202020204" pitchFamily="34" charset="0"/>
                <a:cs typeface="Times New Roman" panose="02020603050405020304" pitchFamily="18" charset="0"/>
              </a:rPr>
              <a:t> Semifinale: Gruppen har 9 modeller. Alle modellene plasseres etter funksjon på en langbord. 	                        Gruppevis diskusjon og valg av den beste modellen av de tre i hver kategori, dvs.</a:t>
            </a:r>
            <a:r>
              <a:rPr lang="nb-NO" sz="1400" kern="100" dirty="0">
                <a:solidFill>
                  <a:srgbClr val="275317"/>
                </a:solidFill>
                <a:ea typeface="Aptos" panose="020B0004020202020204" pitchFamily="34" charset="0"/>
                <a:cs typeface="Times New Roman" panose="02020603050405020304" pitchFamily="18" charset="0"/>
              </a:rPr>
              <a:t> </a:t>
            </a:r>
            <a:r>
              <a:rPr lang="nb-NO" sz="1400" kern="100" dirty="0">
                <a:solidFill>
                  <a:srgbClr val="275317"/>
                </a:solidFill>
                <a:effectLst/>
                <a:ea typeface="Aptos" panose="020B0004020202020204" pitchFamily="34" charset="0"/>
                <a:cs typeface="Times New Roman" panose="02020603050405020304" pitchFamily="18" charset="0"/>
              </a:rPr>
              <a:t>3 ‘finalister’.</a:t>
            </a:r>
            <a:endParaRPr lang="nb-NO" sz="14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nb-NO" sz="1400" kern="100" dirty="0">
                <a:solidFill>
                  <a:srgbClr val="275317"/>
                </a:solidFill>
                <a:effectLst/>
                <a:ea typeface="Aptos" panose="020B0004020202020204" pitchFamily="34" charset="0"/>
                <a:cs typeface="Times New Roman" panose="02020603050405020304" pitchFamily="18" charset="0"/>
              </a:rPr>
              <a:t>Ca. kl. 14:30 Finale: Klassen har </a:t>
            </a:r>
            <a:r>
              <a:rPr lang="nb-NO" sz="1400" kern="100" dirty="0" err="1">
                <a:solidFill>
                  <a:srgbClr val="275317"/>
                </a:solidFill>
                <a:effectLst/>
                <a:ea typeface="Aptos" panose="020B0004020202020204" pitchFamily="34" charset="0"/>
                <a:cs typeface="Times New Roman" panose="02020603050405020304" pitchFamily="18" charset="0"/>
              </a:rPr>
              <a:t>ca</a:t>
            </a:r>
            <a:r>
              <a:rPr lang="nb-NO" sz="1400" kern="100" dirty="0">
                <a:solidFill>
                  <a:srgbClr val="275317"/>
                </a:solidFill>
                <a:effectLst/>
                <a:ea typeface="Aptos" panose="020B0004020202020204" pitchFamily="34" charset="0"/>
                <a:cs typeface="Times New Roman" panose="02020603050405020304" pitchFamily="18" charset="0"/>
              </a:rPr>
              <a:t> 36 modeller totalt fra de 3 kategoriene.</a:t>
            </a:r>
            <a:r>
              <a:rPr lang="nb-NO" sz="1400" kern="100" dirty="0">
                <a:ea typeface="Aptos" panose="020B0004020202020204" pitchFamily="34" charset="0"/>
                <a:cs typeface="Times New Roman" panose="02020603050405020304" pitchFamily="18" charset="0"/>
              </a:rPr>
              <a:t> </a:t>
            </a:r>
            <a:r>
              <a:rPr lang="nb-NO" sz="1400" kern="100" dirty="0">
                <a:solidFill>
                  <a:srgbClr val="275317"/>
                </a:solidFill>
                <a:effectLst/>
                <a:ea typeface="Aptos" panose="020B0004020202020204" pitchFamily="34" charset="0"/>
                <a:cs typeface="Times New Roman" panose="02020603050405020304" pitchFamily="18" charset="0"/>
              </a:rPr>
              <a:t>Samlet diskusjon; hvilken modell formidler funksjonen best, i hver av de 3 kategoriene? Kåring av 3 ‘vinnere’.</a:t>
            </a:r>
            <a:endParaRPr lang="nb-NO" sz="14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67068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3E48B-9DCE-014D-23CC-AB87477A3B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D2B756-1BF2-0236-BD9E-212D54D04862}"/>
              </a:ext>
            </a:extLst>
          </p:cNvPr>
          <p:cNvSpPr txBox="1"/>
          <p:nvPr/>
        </p:nvSpPr>
        <p:spPr>
          <a:xfrm>
            <a:off x="2299251" y="1030480"/>
            <a:ext cx="6193735" cy="473976"/>
          </a:xfrm>
          <a:prstGeom prst="rect">
            <a:avLst/>
          </a:prstGeom>
          <a:noFill/>
        </p:spPr>
        <p:txBody>
          <a:bodyPr wrap="square">
            <a:spAutoFit/>
          </a:bodyPr>
          <a:lstStyle/>
          <a:p>
            <a:pPr>
              <a:lnSpc>
                <a:spcPct val="107000"/>
              </a:lnSpc>
              <a:spcAft>
                <a:spcPts val="800"/>
              </a:spcAft>
              <a:buNone/>
            </a:pPr>
            <a:r>
              <a:rPr lang="en-US" sz="2400" b="1" kern="0" dirty="0">
                <a:solidFill>
                  <a:srgbClr val="C00000"/>
                </a:solidFill>
                <a:ea typeface="Aptos" panose="020B0004020202020204" pitchFamily="34" charset="0"/>
                <a:cs typeface="Times New Roman" panose="02020603050405020304" pitchFamily="18" charset="0"/>
              </a:rPr>
              <a:t>T</a:t>
            </a:r>
            <a:r>
              <a:rPr lang="nb-NO" sz="2400" b="1" kern="0" dirty="0" err="1">
                <a:solidFill>
                  <a:srgbClr val="C00000"/>
                </a:solidFill>
                <a:ea typeface="Aptos" panose="020B0004020202020204" pitchFamily="34" charset="0"/>
                <a:cs typeface="Times New Roman" panose="02020603050405020304" pitchFamily="18" charset="0"/>
              </a:rPr>
              <a:t>idsplan</a:t>
            </a:r>
            <a:r>
              <a:rPr lang="nb-NO" sz="2400" b="1" kern="0" dirty="0">
                <a:solidFill>
                  <a:srgbClr val="C00000"/>
                </a:solidFill>
                <a:ea typeface="Aptos" panose="020B0004020202020204" pitchFamily="34" charset="0"/>
                <a:cs typeface="Times New Roman" panose="02020603050405020304" pitchFamily="18" charset="0"/>
              </a:rPr>
              <a:t> Workshop Produktsemantikk</a:t>
            </a:r>
            <a:endParaRPr lang="nb-NO" sz="1400" kern="100" dirty="0">
              <a:solidFill>
                <a:srgbClr val="275317"/>
              </a:solidFill>
              <a:effectLst/>
              <a:ea typeface="Aptos" panose="020B000402020202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C4A1B9E-C4F8-6062-FD50-CFBC6872657A}"/>
              </a:ext>
            </a:extLst>
          </p:cNvPr>
          <p:cNvSpPr/>
          <p:nvPr/>
        </p:nvSpPr>
        <p:spPr>
          <a:xfrm>
            <a:off x="2408582" y="1969150"/>
            <a:ext cx="3747054" cy="155760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Rectangle 3">
            <a:extLst>
              <a:ext uri="{FF2B5EF4-FFF2-40B4-BE49-F238E27FC236}">
                <a16:creationId xmlns:a16="http://schemas.microsoft.com/office/drawing/2014/main" id="{772F1CFB-4C40-159B-1BCB-89E6180E0DCD}"/>
              </a:ext>
            </a:extLst>
          </p:cNvPr>
          <p:cNvSpPr/>
          <p:nvPr/>
        </p:nvSpPr>
        <p:spPr>
          <a:xfrm>
            <a:off x="2408581" y="3866939"/>
            <a:ext cx="3747054" cy="16592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5" name="Rectangle 4">
            <a:extLst>
              <a:ext uri="{FF2B5EF4-FFF2-40B4-BE49-F238E27FC236}">
                <a16:creationId xmlns:a16="http://schemas.microsoft.com/office/drawing/2014/main" id="{4760E6DD-5BC9-E2B4-84DE-77A75410D5FE}"/>
              </a:ext>
            </a:extLst>
          </p:cNvPr>
          <p:cNvSpPr/>
          <p:nvPr/>
        </p:nvSpPr>
        <p:spPr>
          <a:xfrm>
            <a:off x="6866282" y="1969150"/>
            <a:ext cx="3760304" cy="1570383"/>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ctangle 6">
            <a:extLst>
              <a:ext uri="{FF2B5EF4-FFF2-40B4-BE49-F238E27FC236}">
                <a16:creationId xmlns:a16="http://schemas.microsoft.com/office/drawing/2014/main" id="{5CA2B80E-411F-D921-064C-4D2A7AF80B22}"/>
              </a:ext>
            </a:extLst>
          </p:cNvPr>
          <p:cNvSpPr/>
          <p:nvPr/>
        </p:nvSpPr>
        <p:spPr>
          <a:xfrm>
            <a:off x="6866282" y="3866939"/>
            <a:ext cx="3760303" cy="16592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TextBox 8">
            <a:extLst>
              <a:ext uri="{FF2B5EF4-FFF2-40B4-BE49-F238E27FC236}">
                <a16:creationId xmlns:a16="http://schemas.microsoft.com/office/drawing/2014/main" id="{A2DB5E7A-E63D-1D9B-B140-2E724CCBC2AC}"/>
              </a:ext>
            </a:extLst>
          </p:cNvPr>
          <p:cNvSpPr txBox="1"/>
          <p:nvPr/>
        </p:nvSpPr>
        <p:spPr>
          <a:xfrm>
            <a:off x="2380427" y="1691673"/>
            <a:ext cx="987287" cy="276999"/>
          </a:xfrm>
          <a:prstGeom prst="rect">
            <a:avLst/>
          </a:prstGeom>
          <a:noFill/>
        </p:spPr>
        <p:txBody>
          <a:bodyPr wrap="square" rtlCol="0">
            <a:spAutoFit/>
          </a:bodyPr>
          <a:lstStyle/>
          <a:p>
            <a:r>
              <a:rPr lang="en-US" sz="1200" b="1" dirty="0"/>
              <a:t>Man 27</a:t>
            </a:r>
            <a:endParaRPr lang="nb-NO" sz="1200" b="1" dirty="0"/>
          </a:p>
        </p:txBody>
      </p:sp>
      <p:sp>
        <p:nvSpPr>
          <p:cNvPr id="10" name="TextBox 9">
            <a:extLst>
              <a:ext uri="{FF2B5EF4-FFF2-40B4-BE49-F238E27FC236}">
                <a16:creationId xmlns:a16="http://schemas.microsoft.com/office/drawing/2014/main" id="{C643A0FD-D417-711F-8AAE-C52026139FDC}"/>
              </a:ext>
            </a:extLst>
          </p:cNvPr>
          <p:cNvSpPr txBox="1"/>
          <p:nvPr/>
        </p:nvSpPr>
        <p:spPr>
          <a:xfrm>
            <a:off x="6844747" y="1701837"/>
            <a:ext cx="987287" cy="276999"/>
          </a:xfrm>
          <a:prstGeom prst="rect">
            <a:avLst/>
          </a:prstGeom>
          <a:noFill/>
        </p:spPr>
        <p:txBody>
          <a:bodyPr wrap="square" rtlCol="0">
            <a:spAutoFit/>
          </a:bodyPr>
          <a:lstStyle/>
          <a:p>
            <a:r>
              <a:rPr lang="en-US" sz="1200" b="1" dirty="0"/>
              <a:t>Tir 28</a:t>
            </a:r>
            <a:endParaRPr lang="nb-NO" sz="1200" b="1" dirty="0"/>
          </a:p>
        </p:txBody>
      </p:sp>
      <p:sp>
        <p:nvSpPr>
          <p:cNvPr id="12" name="TextBox 11">
            <a:extLst>
              <a:ext uri="{FF2B5EF4-FFF2-40B4-BE49-F238E27FC236}">
                <a16:creationId xmlns:a16="http://schemas.microsoft.com/office/drawing/2014/main" id="{D05FDAD8-ABB3-7659-E3BE-647110013947}"/>
              </a:ext>
            </a:extLst>
          </p:cNvPr>
          <p:cNvSpPr txBox="1"/>
          <p:nvPr/>
        </p:nvSpPr>
        <p:spPr>
          <a:xfrm>
            <a:off x="2117034" y="1905147"/>
            <a:ext cx="364435" cy="276999"/>
          </a:xfrm>
          <a:prstGeom prst="rect">
            <a:avLst/>
          </a:prstGeom>
          <a:noFill/>
        </p:spPr>
        <p:txBody>
          <a:bodyPr wrap="square" rtlCol="0">
            <a:spAutoFit/>
          </a:bodyPr>
          <a:lstStyle/>
          <a:p>
            <a:r>
              <a:rPr lang="en-US" sz="1200" dirty="0"/>
              <a:t>09</a:t>
            </a:r>
            <a:endParaRPr lang="nb-NO" sz="1200" dirty="0"/>
          </a:p>
        </p:txBody>
      </p:sp>
      <p:sp>
        <p:nvSpPr>
          <p:cNvPr id="13" name="TextBox 12">
            <a:extLst>
              <a:ext uri="{FF2B5EF4-FFF2-40B4-BE49-F238E27FC236}">
                <a16:creationId xmlns:a16="http://schemas.microsoft.com/office/drawing/2014/main" id="{B9986D13-652B-5D66-9DA5-8B7FBBF0EF50}"/>
              </a:ext>
            </a:extLst>
          </p:cNvPr>
          <p:cNvSpPr txBox="1"/>
          <p:nvPr/>
        </p:nvSpPr>
        <p:spPr>
          <a:xfrm>
            <a:off x="6564798" y="1920644"/>
            <a:ext cx="371061" cy="276999"/>
          </a:xfrm>
          <a:prstGeom prst="rect">
            <a:avLst/>
          </a:prstGeom>
          <a:noFill/>
        </p:spPr>
        <p:txBody>
          <a:bodyPr wrap="square" rtlCol="0">
            <a:spAutoFit/>
          </a:bodyPr>
          <a:lstStyle/>
          <a:p>
            <a:r>
              <a:rPr lang="en-US" sz="1200" dirty="0"/>
              <a:t>09</a:t>
            </a:r>
            <a:endParaRPr lang="nb-NO" sz="1200" dirty="0"/>
          </a:p>
        </p:txBody>
      </p:sp>
      <p:sp>
        <p:nvSpPr>
          <p:cNvPr id="15" name="TextBox 14">
            <a:extLst>
              <a:ext uri="{FF2B5EF4-FFF2-40B4-BE49-F238E27FC236}">
                <a16:creationId xmlns:a16="http://schemas.microsoft.com/office/drawing/2014/main" id="{7F66B36F-B1D9-9A06-2269-CDD6977BE600}"/>
              </a:ext>
            </a:extLst>
          </p:cNvPr>
          <p:cNvSpPr txBox="1"/>
          <p:nvPr/>
        </p:nvSpPr>
        <p:spPr>
          <a:xfrm>
            <a:off x="2117034" y="3828454"/>
            <a:ext cx="377687" cy="276999"/>
          </a:xfrm>
          <a:prstGeom prst="rect">
            <a:avLst/>
          </a:prstGeom>
          <a:noFill/>
        </p:spPr>
        <p:txBody>
          <a:bodyPr wrap="square" rtlCol="0">
            <a:spAutoFit/>
          </a:bodyPr>
          <a:lstStyle/>
          <a:p>
            <a:r>
              <a:rPr lang="en-US" sz="1200" dirty="0"/>
              <a:t>13</a:t>
            </a:r>
            <a:endParaRPr lang="nb-NO" sz="1200" dirty="0"/>
          </a:p>
        </p:txBody>
      </p:sp>
      <p:sp>
        <p:nvSpPr>
          <p:cNvPr id="16" name="TextBox 15">
            <a:extLst>
              <a:ext uri="{FF2B5EF4-FFF2-40B4-BE49-F238E27FC236}">
                <a16:creationId xmlns:a16="http://schemas.microsoft.com/office/drawing/2014/main" id="{315CE95E-CD64-3B90-C12F-4BEAFE6351A5}"/>
              </a:ext>
            </a:extLst>
          </p:cNvPr>
          <p:cNvSpPr txBox="1"/>
          <p:nvPr/>
        </p:nvSpPr>
        <p:spPr>
          <a:xfrm>
            <a:off x="6583017" y="3795615"/>
            <a:ext cx="377687" cy="276999"/>
          </a:xfrm>
          <a:prstGeom prst="rect">
            <a:avLst/>
          </a:prstGeom>
          <a:noFill/>
        </p:spPr>
        <p:txBody>
          <a:bodyPr wrap="square" rtlCol="0">
            <a:spAutoFit/>
          </a:bodyPr>
          <a:lstStyle/>
          <a:p>
            <a:r>
              <a:rPr lang="en-US" sz="1200" dirty="0"/>
              <a:t>13</a:t>
            </a:r>
            <a:endParaRPr lang="nb-NO" sz="1200" dirty="0"/>
          </a:p>
        </p:txBody>
      </p:sp>
      <p:sp>
        <p:nvSpPr>
          <p:cNvPr id="18" name="TextBox 17">
            <a:extLst>
              <a:ext uri="{FF2B5EF4-FFF2-40B4-BE49-F238E27FC236}">
                <a16:creationId xmlns:a16="http://schemas.microsoft.com/office/drawing/2014/main" id="{BE8F4B10-F50D-1575-7D52-0E5A38300C6A}"/>
              </a:ext>
            </a:extLst>
          </p:cNvPr>
          <p:cNvSpPr txBox="1"/>
          <p:nvPr/>
        </p:nvSpPr>
        <p:spPr>
          <a:xfrm>
            <a:off x="7141265" y="2076658"/>
            <a:ext cx="1663148" cy="276999"/>
          </a:xfrm>
          <a:prstGeom prst="rect">
            <a:avLst/>
          </a:prstGeom>
          <a:noFill/>
        </p:spPr>
        <p:txBody>
          <a:bodyPr wrap="square" rtlCol="0">
            <a:spAutoFit/>
          </a:bodyPr>
          <a:lstStyle/>
          <a:p>
            <a:r>
              <a:rPr lang="en-US" sz="1200" dirty="0"/>
              <a:t>09-12 Modellbygging</a:t>
            </a:r>
            <a:endParaRPr lang="nb-NO" sz="1200" dirty="0"/>
          </a:p>
        </p:txBody>
      </p:sp>
      <p:sp>
        <p:nvSpPr>
          <p:cNvPr id="20" name="TextBox 19">
            <a:extLst>
              <a:ext uri="{FF2B5EF4-FFF2-40B4-BE49-F238E27FC236}">
                <a16:creationId xmlns:a16="http://schemas.microsoft.com/office/drawing/2014/main" id="{55BF7616-C0A5-B8E5-B049-919BA4A1688A}"/>
              </a:ext>
            </a:extLst>
          </p:cNvPr>
          <p:cNvSpPr txBox="1"/>
          <p:nvPr/>
        </p:nvSpPr>
        <p:spPr>
          <a:xfrm>
            <a:off x="7141265" y="3951895"/>
            <a:ext cx="2179984" cy="1015663"/>
          </a:xfrm>
          <a:prstGeom prst="rect">
            <a:avLst/>
          </a:prstGeom>
          <a:noFill/>
        </p:spPr>
        <p:txBody>
          <a:bodyPr wrap="square" rtlCol="0">
            <a:spAutoFit/>
          </a:bodyPr>
          <a:lstStyle/>
          <a:p>
            <a:r>
              <a:rPr lang="en-US" sz="1200" dirty="0"/>
              <a:t>13-14 Modellbygging</a:t>
            </a:r>
          </a:p>
          <a:p>
            <a:endParaRPr lang="en-US" sz="1200" dirty="0"/>
          </a:p>
          <a:p>
            <a:r>
              <a:rPr lang="en-US" sz="1200" dirty="0"/>
              <a:t>14:00 </a:t>
            </a:r>
            <a:r>
              <a:rPr lang="en-US" sz="1200" dirty="0" err="1"/>
              <a:t>Semifinale</a:t>
            </a:r>
            <a:endParaRPr lang="en-US" sz="1200" dirty="0"/>
          </a:p>
          <a:p>
            <a:endParaRPr lang="en-US" sz="1200" dirty="0"/>
          </a:p>
          <a:p>
            <a:r>
              <a:rPr lang="en-US" sz="1200" dirty="0"/>
              <a:t>15:00 </a:t>
            </a:r>
            <a:r>
              <a:rPr lang="en-US" sz="1200" dirty="0">
                <a:solidFill>
                  <a:srgbClr val="C00000"/>
                </a:solidFill>
              </a:rPr>
              <a:t>Finale</a:t>
            </a:r>
            <a:endParaRPr lang="nb-NO" sz="1200" dirty="0">
              <a:solidFill>
                <a:srgbClr val="C00000"/>
              </a:solidFill>
            </a:endParaRPr>
          </a:p>
        </p:txBody>
      </p:sp>
      <p:sp>
        <p:nvSpPr>
          <p:cNvPr id="21" name="TextBox 20">
            <a:extLst>
              <a:ext uri="{FF2B5EF4-FFF2-40B4-BE49-F238E27FC236}">
                <a16:creationId xmlns:a16="http://schemas.microsoft.com/office/drawing/2014/main" id="{4939963D-1BA4-62D0-C12B-FE02F27CCE94}"/>
              </a:ext>
            </a:extLst>
          </p:cNvPr>
          <p:cNvSpPr txBox="1"/>
          <p:nvPr/>
        </p:nvSpPr>
        <p:spPr>
          <a:xfrm>
            <a:off x="2615645" y="3974800"/>
            <a:ext cx="1538911" cy="276999"/>
          </a:xfrm>
          <a:prstGeom prst="rect">
            <a:avLst/>
          </a:prstGeom>
          <a:noFill/>
        </p:spPr>
        <p:txBody>
          <a:bodyPr wrap="square" rtlCol="0">
            <a:spAutoFit/>
          </a:bodyPr>
          <a:lstStyle/>
          <a:p>
            <a:r>
              <a:rPr lang="en-US" sz="1200" dirty="0"/>
              <a:t>12-16 </a:t>
            </a:r>
            <a:r>
              <a:rPr lang="en-US" sz="1200" dirty="0" err="1"/>
              <a:t>Skissearbeid</a:t>
            </a:r>
            <a:endParaRPr lang="nb-NO" sz="1200" dirty="0"/>
          </a:p>
        </p:txBody>
      </p:sp>
      <p:sp>
        <p:nvSpPr>
          <p:cNvPr id="22" name="TextBox 21">
            <a:extLst>
              <a:ext uri="{FF2B5EF4-FFF2-40B4-BE49-F238E27FC236}">
                <a16:creationId xmlns:a16="http://schemas.microsoft.com/office/drawing/2014/main" id="{31CC6E9C-C497-D42E-099F-5A20EA278295}"/>
              </a:ext>
            </a:extLst>
          </p:cNvPr>
          <p:cNvSpPr txBox="1"/>
          <p:nvPr/>
        </p:nvSpPr>
        <p:spPr>
          <a:xfrm>
            <a:off x="2690190" y="2076658"/>
            <a:ext cx="2378766" cy="276999"/>
          </a:xfrm>
          <a:prstGeom prst="rect">
            <a:avLst/>
          </a:prstGeom>
          <a:noFill/>
        </p:spPr>
        <p:txBody>
          <a:bodyPr wrap="square" rtlCol="0">
            <a:spAutoFit/>
          </a:bodyPr>
          <a:lstStyle/>
          <a:p>
            <a:r>
              <a:rPr lang="en-US" sz="1200" dirty="0" err="1"/>
              <a:t>Prosjekt</a:t>
            </a:r>
            <a:r>
              <a:rPr lang="en-US" sz="1200" dirty="0"/>
              <a:t>-intro</a:t>
            </a:r>
          </a:p>
        </p:txBody>
      </p:sp>
    </p:spTree>
    <p:extLst>
      <p:ext uri="{BB962C8B-B14F-4D97-AF65-F5344CB8AC3E}">
        <p14:creationId xmlns:p14="http://schemas.microsoft.com/office/powerpoint/2010/main" val="859067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561E63E1B4324FA15DCD0D2B7E44B8" ma:contentTypeVersion="10" ma:contentTypeDescription="Create a new document." ma:contentTypeScope="" ma:versionID="a571d1632eaae05fcbd26a44e12c7454">
  <xsd:schema xmlns:xsd="http://www.w3.org/2001/XMLSchema" xmlns:xs="http://www.w3.org/2001/XMLSchema" xmlns:p="http://schemas.microsoft.com/office/2006/metadata/properties" xmlns:ns2="01f35310-251e-43ba-9ebe-351883f26b63" xmlns:ns3="26cb69cd-a5bb-4c5d-84cd-344eb6f20a11" targetNamespace="http://schemas.microsoft.com/office/2006/metadata/properties" ma:root="true" ma:fieldsID="df33e7edfae9924868082aea06dc2a47" ns2:_="" ns3:_="">
    <xsd:import namespace="01f35310-251e-43ba-9ebe-351883f26b63"/>
    <xsd:import namespace="26cb69cd-a5bb-4c5d-84cd-344eb6f20a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f35310-251e-43ba-9ebe-351883f26b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e890ff-9720-4b21-a515-9806f15799c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6cb69cd-a5bb-4c5d-84cd-344eb6f20a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8ad3c94-3917-4063-9d37-229cca086c77}" ma:internalName="TaxCatchAll" ma:showField="CatchAllData" ma:web="26cb69cd-a5bb-4c5d-84cd-344eb6f20a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6cb69cd-a5bb-4c5d-84cd-344eb6f20a11" xsi:nil="true"/>
    <lcf76f155ced4ddcb4097134ff3c332f xmlns="01f35310-251e-43ba-9ebe-351883f26b6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B725024-8BCF-463C-98DE-5309F708A69C}"/>
</file>

<file path=customXml/itemProps2.xml><?xml version="1.0" encoding="utf-8"?>
<ds:datastoreItem xmlns:ds="http://schemas.openxmlformats.org/officeDocument/2006/customXml" ds:itemID="{3F75C27F-979A-4211-BFA8-BA209A8E5671}"/>
</file>

<file path=customXml/itemProps3.xml><?xml version="1.0" encoding="utf-8"?>
<ds:datastoreItem xmlns:ds="http://schemas.openxmlformats.org/officeDocument/2006/customXml" ds:itemID="{45655C9D-E49E-4EFE-8FA3-E64001F036F7}"/>
</file>

<file path=docProps/app.xml><?xml version="1.0" encoding="utf-8"?>
<Properties xmlns="http://schemas.openxmlformats.org/officeDocument/2006/extended-properties" xmlns:vt="http://schemas.openxmlformats.org/officeDocument/2006/docPropsVTypes">
  <TotalTime>4147</TotalTime>
  <Words>1288</Words>
  <Application>Microsoft Office PowerPoint</Application>
  <PresentationFormat>Widescreen</PresentationFormat>
  <Paragraphs>137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Times New Roman</vt:lpstr>
      <vt:lpstr>Office Theme</vt:lpstr>
      <vt:lpstr>Workshop  Produktsemantikk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Harald Skulberg</dc:creator>
  <cp:lastModifiedBy>Harald Skulberg</cp:lastModifiedBy>
  <cp:revision>19</cp:revision>
  <dcterms:created xsi:type="dcterms:W3CDTF">2026-04-13T11:51:38Z</dcterms:created>
  <dcterms:modified xsi:type="dcterms:W3CDTF">2026-04-27T10:52:56Z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0x0101002E561E63E1B4324FA15DCD0D2B7E44B8</vt:lpwstr>
  </property>
</Properties>
</file>
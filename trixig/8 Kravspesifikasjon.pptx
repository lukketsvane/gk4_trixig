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2" r:id="rId3"/>
    <p:sldId id="307" r:id="rId4"/>
    <p:sldId id="284" r:id="rId5"/>
    <p:sldId id="345" r:id="rId6"/>
    <p:sldId id="349" r:id="rId7"/>
    <p:sldId id="292" r:id="rId8"/>
    <p:sldId id="346" r:id="rId9"/>
    <p:sldId id="347" r:id="rId10"/>
    <p:sldId id="362" r:id="rId11"/>
    <p:sldId id="348" r:id="rId1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4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10C9B-4AC7-4109-845D-EFF11F9F88F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0C3BB-6C91-44BF-ADCC-10624CECC8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243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1E62A7B0-C028-3380-26AE-4E69975636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7406688-824D-4070-9112-ECD1871AEB55}" type="slidenum">
              <a:rPr lang="en-GB" altLang="en-US" sz="1200" smtClean="0"/>
              <a:pPr/>
              <a:t>2</a:t>
            </a:fld>
            <a:endParaRPr lang="en-GB" altLang="en-US" sz="12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68DB1AC7-4063-A5C3-5833-5363A10F89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3AEAF43-94F5-40F9-65B3-EAA63FF3173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ABA47A16-92E6-C072-F785-B906A2E565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A4FFF0-E13F-4C79-9059-A53ADB726CCA}" type="slidenum">
              <a:rPr lang="en-GB" altLang="en-US" sz="1200" smtClean="0"/>
              <a:pPr/>
              <a:t>3</a:t>
            </a:fld>
            <a:endParaRPr lang="en-GB" altLang="en-US" sz="1200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CB0E877B-F52A-49B5-C9F8-C7A00328908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D8FFF45E-CD45-5C5C-5623-B3E805256CA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625B25F-925F-DF91-8D89-C94FDB3002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483B10-53DD-4788-8E1F-9D4FD8119976}" type="slidenum">
              <a:rPr lang="en-GB" altLang="en-US" sz="1200" smtClean="0"/>
              <a:pPr/>
              <a:t>4</a:t>
            </a:fld>
            <a:endParaRPr lang="en-GB" altLang="en-US" sz="1200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6C923C1C-C72A-2925-DB08-C42D9C0C65D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0AA80DBD-C955-42E0-60DE-12F4B89C337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36F5FF16-B47C-F92A-018E-6F17F67AA6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C3C0D1-2928-443D-90EF-ADC17BED81DE}" type="slidenum">
              <a:rPr lang="en-GB" altLang="en-US" sz="1200" smtClean="0"/>
              <a:pPr/>
              <a:t>5</a:t>
            </a:fld>
            <a:endParaRPr lang="en-GB" altLang="en-US" sz="12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1A49C7CD-D5B9-763A-50EA-BFE7CC88AD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BCFC9CB1-3F84-7427-DFAB-7D5D90F41AD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D852EAF6-A08B-B07F-7DBC-FC84E743DE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1BC6B2-1145-4C60-946F-686187B14208}" type="slidenum">
              <a:rPr lang="en-GB" altLang="en-US" sz="1200" smtClean="0"/>
              <a:pPr/>
              <a:t>6</a:t>
            </a:fld>
            <a:endParaRPr lang="en-GB" altLang="en-US" sz="1200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9BC353E-260D-51E0-2733-18F96B86E4C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9174B52B-FF85-EF77-F0EE-E69B190363D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E3D49063-FD44-19C7-DF4F-631958659C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F55F702-CD28-480B-AF09-635D3C6B0567}" type="slidenum">
              <a:rPr lang="en-GB" altLang="en-US" sz="1200" smtClean="0"/>
              <a:pPr/>
              <a:t>7</a:t>
            </a:fld>
            <a:endParaRPr lang="en-GB" altLang="en-US" sz="12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FCB6A2FC-00AE-A665-20B5-6936BDA5A7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C956AB79-EB8F-4F6D-7151-C348EBD9B57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FB69F8C1-828B-BF6D-8A51-08E57730A3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65CF0D-A34B-4FE9-AF42-78CECBF15013}" type="slidenum">
              <a:rPr lang="en-GB" altLang="en-US" sz="1200" smtClean="0"/>
              <a:pPr/>
              <a:t>8</a:t>
            </a:fld>
            <a:endParaRPr lang="en-GB" altLang="en-US" sz="12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28C11AAA-D698-C0F7-1BE1-0853732880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B0D14545-B09B-37A9-94F8-CC333C5D795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E7300395-3985-AE6B-29E2-56162050EA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A2B7A8-359F-49A6-9982-CEE7231E05F4}" type="slidenum">
              <a:rPr lang="en-GB" altLang="en-US" sz="1200" smtClean="0"/>
              <a:pPr/>
              <a:t>9</a:t>
            </a:fld>
            <a:endParaRPr lang="en-GB" altLang="en-US" sz="120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35928AEF-8837-7635-DC9B-A04C0C7E39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A52361D4-A016-94BE-A360-0BAD2FCE6CA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7E317A17-CF6C-B038-8BB0-39745B6612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DAFEE3-6A3E-47B7-9F9E-0646013FB7C7}" type="slidenum">
              <a:rPr lang="en-GB" altLang="en-US" sz="1200" smtClean="0"/>
              <a:pPr/>
              <a:t>10</a:t>
            </a:fld>
            <a:endParaRPr lang="en-GB" altLang="en-US" sz="1200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9B3E1475-4A16-A32B-80D1-5FEC924E8AF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806AAF5E-D7D1-488A-4FF7-B26D94A6E20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D865B422-ED6F-8089-9E93-2040295CEE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A69E041-C657-4C8B-AE60-839E2374C143}" type="slidenum">
              <a:rPr lang="en-GB" altLang="en-US" sz="1200" smtClean="0"/>
              <a:pPr/>
              <a:t>11</a:t>
            </a:fld>
            <a:endParaRPr lang="en-GB" altLang="en-US" sz="12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9DD42E7C-311C-A721-5839-B8C3443B9A4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F5CBE33B-FECD-4510-2D5C-BD091E1F261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B2E75-65A4-A6EE-7B48-C342B08BF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4C5D6-B911-3B27-FBE8-66C144B01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BD127-1CD3-26A5-6B67-5DAF4169C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6AE19-843A-A3C4-F50C-C4FDDECE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B88D6-DC1D-381F-51A2-40B93E3B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700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08ED-2C73-5A29-2D0A-AAB9BA881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26757-7EF9-A604-9874-D9ADE547D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9655C-FE22-DE7A-84BE-0A68812E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6A9C8-1A2D-1648-54F5-29154C03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E8E59-86E3-EC25-6D8D-6EBDE1D4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5256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EAEAC-FF9C-3E6F-9174-1BF0377E6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D2CEA-7134-14E8-1F58-D65918DF7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0E18A-386D-8DDA-F565-EB593B26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1FE52-A82C-BB49-47DB-69186152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48CFC-C35C-3C69-D26D-4B9D170E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4956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4869-1DA7-2D4D-F5EF-9756A95AA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2F760-3EF0-5493-50F2-7820E7AFD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629CC-0474-1022-A6D7-050485E97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37E9F-4880-4E01-9A62-AD067B46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95487-CE5D-EAA7-2553-A9742745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A69C8-4428-7CA4-34DE-537F3288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65522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5176-9E6C-D87D-2AFC-D6A02458C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1EBC3-3FE2-825F-667C-BA6DBD31A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00D23-0939-39E4-B681-BFAF7E0F2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60487-9AF6-EBDF-19DF-4FE2A290D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1C82B3-7F57-024B-B01E-0928DE6B5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B26870-4153-3CC3-680A-52C6E69E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07411-374F-FB51-B125-EC734A9CD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7DEC5-D6E9-6C00-6084-7A98610B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4057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C2ED-6250-14E0-A17B-24D02474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C9C851-0220-B321-8287-A6E9285C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45D0C-9E96-56DC-5EA9-878142C2A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00ED6-0509-536F-F930-58B7E0AA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6404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674F8-9D89-7CF0-F2D8-3EEF2DA4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22AF2-9E13-09D5-B4D5-C5052839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13F19-C714-D58F-16A2-74A91602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13501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52AD-7451-DCD0-83CC-689627F1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F4E54-97D9-0B6F-9A28-3E8126966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C3939-1819-8940-2448-47A419325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A3AF6-A382-1A0A-3739-ED5D84C7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8F157-F2FD-E63D-6C19-7CE6EE32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F599C-5552-19F4-1C79-2EDDF93E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29473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8F4D-3ACE-ED90-A547-05683246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9B294-7A2A-021B-8198-24D4E05BC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76A61-6FC4-4B85-75EF-0330DBAAA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7DDB2-5122-E287-E35F-6C877FB0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E64A6-5A39-906B-615B-BA57EA09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7DC98-0BF7-59F4-5974-ED08F78B7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2733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6282-D2FA-BCC7-0B9B-76B3DC6F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A8D7B-C117-4AAD-95E7-ECA603561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2228A-3A47-9301-B1D2-161888F35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1780D-5059-D3FF-6C05-235BCBD0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53E9-B345-7D7F-2940-6B7978CE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885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3542A-B64E-8D55-D744-37720D08E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E787E-D442-CBD6-838A-8D9B42205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004DC-EECB-0D1E-6388-B1A1CD50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0BF58-F94E-105D-BEBB-B5B7B88A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DE562-5364-633D-AA1E-B553C232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3606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B0467-DA19-D3ED-AB60-16AB0A624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A1CE8-5E2B-CACF-86A8-7CD2D511B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01DA-DC9A-84C8-0884-8317B05A9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8D777B-570F-4E2D-AD35-393B95F13CB5}" type="datetimeFigureOut">
              <a:rPr lang="nb-NO" smtClean="0"/>
              <a:t>16.04.2026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1AFF5-7924-4631-CDEC-BED51300E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A2981-E463-F538-2AB2-606054FA4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ABC52-A7EC-4DFC-B7A3-C442C49280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5456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794D-09CB-DD16-F92D-E59B4A92F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Kravspesifikasjon</a:t>
            </a:r>
            <a:endParaRPr lang="nb-NO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680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4">
            <a:extLst>
              <a:ext uri="{FF2B5EF4-FFF2-40B4-BE49-F238E27FC236}">
                <a16:creationId xmlns:a16="http://schemas.microsoft.com/office/drawing/2014/main" id="{33E4533E-FC77-516A-C403-8520A6FA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97283" name="Slide Number Placeholder 5">
            <a:extLst>
              <a:ext uri="{FF2B5EF4-FFF2-40B4-BE49-F238E27FC236}">
                <a16:creationId xmlns:a16="http://schemas.microsoft.com/office/drawing/2014/main" id="{93BC841E-31D5-59AB-F437-42001670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5ADB75-08F3-48EF-A51D-1179CEEB8BB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C751636C-0DB2-CBD3-F123-488F1B210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>
                <a:latin typeface="Aptos" panose="020B0004020202020204" pitchFamily="34" charset="0"/>
              </a:rPr>
              <a:t>Kravspesifikasjon</a:t>
            </a:r>
            <a:endParaRPr lang="en-GB" altLang="en-US" sz="2800" b="1" i="1">
              <a:latin typeface="Aptos" panose="020B0004020202020204" pitchFamily="34" charset="0"/>
            </a:endParaRPr>
          </a:p>
        </p:txBody>
      </p:sp>
      <p:sp>
        <p:nvSpPr>
          <p:cNvPr id="97285" name="Rectangle 3">
            <a:extLst>
              <a:ext uri="{FF2B5EF4-FFF2-40B4-BE49-F238E27FC236}">
                <a16:creationId xmlns:a16="http://schemas.microsoft.com/office/drawing/2014/main" id="{6C46D13E-484E-464D-A672-DACADA954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0668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altLang="en-US">
                <a:cs typeface="Times New Roman" panose="02020603050405020304" pitchFamily="18" charset="0"/>
              </a:rPr>
              <a:t> ... Med begrepet </a:t>
            </a:r>
            <a:r>
              <a:rPr lang="nb-NO" altLang="en-US" i="1">
                <a:cs typeface="Times New Roman" panose="02020603050405020304" pitchFamily="18" charset="0"/>
              </a:rPr>
              <a:t>kravspesifikasjon</a:t>
            </a:r>
            <a:r>
              <a:rPr lang="nb-NO" altLang="en-US">
                <a:cs typeface="Times New Roman" panose="02020603050405020304" pitchFamily="18" charset="0"/>
              </a:rPr>
              <a:t> menes en preliminær opplisting og rangering av de </a:t>
            </a:r>
            <a:r>
              <a:rPr lang="nb-NO" altLang="en-US" u="sng">
                <a:cs typeface="Times New Roman" panose="02020603050405020304" pitchFamily="18" charset="0"/>
              </a:rPr>
              <a:t>egenskaper</a:t>
            </a:r>
            <a:r>
              <a:rPr lang="nb-NO" altLang="en-US">
                <a:cs typeface="Times New Roman" panose="02020603050405020304" pitchFamily="18" charset="0"/>
              </a:rPr>
              <a:t> som skal være tilfredsstilt i produktløsningen, uten at disse beskrives som fysiske løsninger.</a:t>
            </a:r>
          </a:p>
          <a:p>
            <a:pPr eaLnBrk="1" hangingPunct="1">
              <a:buFontTx/>
              <a:buNone/>
            </a:pPr>
            <a:endParaRPr lang="nb-NO" altLang="en-US">
              <a:cs typeface="Times New Roman" panose="02020603050405020304" pitchFamily="18" charset="0"/>
            </a:endParaRPr>
          </a:p>
          <a:p>
            <a:pPr eaLnBrk="1" hangingPunct="1">
              <a:buFontTx/>
              <a:buChar char="-"/>
            </a:pPr>
            <a:endParaRPr lang="en-GB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4">
            <a:extLst>
              <a:ext uri="{FF2B5EF4-FFF2-40B4-BE49-F238E27FC236}">
                <a16:creationId xmlns:a16="http://schemas.microsoft.com/office/drawing/2014/main" id="{84ED25A4-68BA-E9DA-4CB9-AB32A84B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99331" name="Slide Number Placeholder 5">
            <a:extLst>
              <a:ext uri="{FF2B5EF4-FFF2-40B4-BE49-F238E27FC236}">
                <a16:creationId xmlns:a16="http://schemas.microsoft.com/office/drawing/2014/main" id="{4D2C3C05-165A-A204-3224-E0D03CA6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450198-B604-4EC7-AF7A-707F170096F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id="{BBCCDF55-EF48-FA09-D7DF-870CDBD6E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>
                <a:latin typeface="Aptos" panose="020B0004020202020204" pitchFamily="34" charset="0"/>
              </a:rPr>
              <a:t>Kravspesifikasjon</a:t>
            </a:r>
            <a:endParaRPr lang="en-GB" altLang="en-US" sz="2800" b="1" i="1">
              <a:latin typeface="Aptos" panose="020B0004020202020204" pitchFamily="34" charset="0"/>
            </a:endParaRPr>
          </a:p>
        </p:txBody>
      </p:sp>
      <p:sp>
        <p:nvSpPr>
          <p:cNvPr id="99333" name="Rectangle 3">
            <a:extLst>
              <a:ext uri="{FF2B5EF4-FFF2-40B4-BE49-F238E27FC236}">
                <a16:creationId xmlns:a16="http://schemas.microsoft.com/office/drawing/2014/main" id="{1BD7AB59-ACEC-759C-0D3B-8A2BF5763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599" y="1066800"/>
            <a:ext cx="8931966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altLang="en-US" dirty="0">
                <a:cs typeface="Times New Roman" panose="02020603050405020304" pitchFamily="18" charset="0"/>
              </a:rPr>
              <a:t>   Forutsetningen for å kunne utlede en </a:t>
            </a:r>
            <a:r>
              <a:rPr lang="nb-NO" altLang="en-US" i="1" dirty="0">
                <a:cs typeface="Times New Roman" panose="02020603050405020304" pitchFamily="18" charset="0"/>
              </a:rPr>
              <a:t>kravspesifikasjon, </a:t>
            </a:r>
            <a:r>
              <a:rPr lang="nb-NO" altLang="en-US" dirty="0">
                <a:cs typeface="Times New Roman" panose="02020603050405020304" pitchFamily="18" charset="0"/>
              </a:rPr>
              <a:t>er at man først erkjenner </a:t>
            </a:r>
            <a:r>
              <a:rPr lang="nb-NO" altLang="en-US" i="1" dirty="0">
                <a:cs typeface="Times New Roman" panose="02020603050405020304" pitchFamily="18" charset="0"/>
              </a:rPr>
              <a:t>behovet,</a:t>
            </a:r>
            <a:r>
              <a:rPr lang="nb-NO" altLang="en-US" dirty="0">
                <a:cs typeface="Times New Roman" panose="02020603050405020304" pitchFamily="18" charset="0"/>
              </a:rPr>
              <a:t> dvs. utgangspunktet for designarbeidet.</a:t>
            </a:r>
            <a:endParaRPr lang="en-GB" altLang="en-US" dirty="0">
              <a:cs typeface="Times New Roman" panose="02020603050405020304" pitchFamily="18" charset="0"/>
            </a:endParaRPr>
          </a:p>
        </p:txBody>
      </p:sp>
      <p:sp>
        <p:nvSpPr>
          <p:cNvPr id="99334" name="Freeform 4">
            <a:extLst>
              <a:ext uri="{FF2B5EF4-FFF2-40B4-BE49-F238E27FC236}">
                <a16:creationId xmlns:a16="http://schemas.microsoft.com/office/drawing/2014/main" id="{26B1E831-FC8F-8FA3-92A7-67F2CC7C1720}"/>
              </a:ext>
            </a:extLst>
          </p:cNvPr>
          <p:cNvSpPr>
            <a:spLocks/>
          </p:cNvSpPr>
          <p:nvPr/>
        </p:nvSpPr>
        <p:spPr bwMode="auto">
          <a:xfrm>
            <a:off x="4191000" y="2819400"/>
            <a:ext cx="3525838" cy="1296988"/>
          </a:xfrm>
          <a:custGeom>
            <a:avLst/>
            <a:gdLst>
              <a:gd name="T0" fmla="*/ 2147483646 w 1309"/>
              <a:gd name="T1" fmla="*/ 2147483646 h 817"/>
              <a:gd name="T2" fmla="*/ 2147483646 w 1309"/>
              <a:gd name="T3" fmla="*/ 2147483646 h 817"/>
              <a:gd name="T4" fmla="*/ 2147483646 w 1309"/>
              <a:gd name="T5" fmla="*/ 2147483646 h 817"/>
              <a:gd name="T6" fmla="*/ 2147483646 w 1309"/>
              <a:gd name="T7" fmla="*/ 2147483646 h 817"/>
              <a:gd name="T8" fmla="*/ 2147483646 w 1309"/>
              <a:gd name="T9" fmla="*/ 2147483646 h 817"/>
              <a:gd name="T10" fmla="*/ 2147483646 w 1309"/>
              <a:gd name="T11" fmla="*/ 2147483646 h 817"/>
              <a:gd name="T12" fmla="*/ 2147483646 w 1309"/>
              <a:gd name="T13" fmla="*/ 2147483646 h 817"/>
              <a:gd name="T14" fmla="*/ 2147483646 w 1309"/>
              <a:gd name="T15" fmla="*/ 2147483646 h 817"/>
              <a:gd name="T16" fmla="*/ 2147483646 w 1309"/>
              <a:gd name="T17" fmla="*/ 2147483646 h 817"/>
              <a:gd name="T18" fmla="*/ 2147483646 w 1309"/>
              <a:gd name="T19" fmla="*/ 2147483646 h 817"/>
              <a:gd name="T20" fmla="*/ 2147483646 w 1309"/>
              <a:gd name="T21" fmla="*/ 2147483646 h 817"/>
              <a:gd name="T22" fmla="*/ 2147483646 w 1309"/>
              <a:gd name="T23" fmla="*/ 0 h 817"/>
              <a:gd name="T24" fmla="*/ 2147483646 w 1309"/>
              <a:gd name="T25" fmla="*/ 2147483646 h 817"/>
              <a:gd name="T26" fmla="*/ 2147483646 w 1309"/>
              <a:gd name="T27" fmla="*/ 2147483646 h 817"/>
              <a:gd name="T28" fmla="*/ 2147483646 w 1309"/>
              <a:gd name="T29" fmla="*/ 2147483646 h 817"/>
              <a:gd name="T30" fmla="*/ 2147483646 w 1309"/>
              <a:gd name="T31" fmla="*/ 2147483646 h 817"/>
              <a:gd name="T32" fmla="*/ 2147483646 w 1309"/>
              <a:gd name="T33" fmla="*/ 2147483646 h 817"/>
              <a:gd name="T34" fmla="*/ 2147483646 w 1309"/>
              <a:gd name="T35" fmla="*/ 2147483646 h 817"/>
              <a:gd name="T36" fmla="*/ 2147483646 w 1309"/>
              <a:gd name="T37" fmla="*/ 2147483646 h 817"/>
              <a:gd name="T38" fmla="*/ 2147483646 w 1309"/>
              <a:gd name="T39" fmla="*/ 2147483646 h 817"/>
              <a:gd name="T40" fmla="*/ 2147483646 w 1309"/>
              <a:gd name="T41" fmla="*/ 2147483646 h 817"/>
              <a:gd name="T42" fmla="*/ 2147483646 w 1309"/>
              <a:gd name="T43" fmla="*/ 2147483646 h 817"/>
              <a:gd name="T44" fmla="*/ 2147483646 w 1309"/>
              <a:gd name="T45" fmla="*/ 2147483646 h 817"/>
              <a:gd name="T46" fmla="*/ 2147483646 w 1309"/>
              <a:gd name="T47" fmla="*/ 2147483646 h 817"/>
              <a:gd name="T48" fmla="*/ 2147483646 w 1309"/>
              <a:gd name="T49" fmla="*/ 2147483646 h 817"/>
              <a:gd name="T50" fmla="*/ 2147483646 w 1309"/>
              <a:gd name="T51" fmla="*/ 2147483646 h 817"/>
              <a:gd name="T52" fmla="*/ 2147483646 w 1309"/>
              <a:gd name="T53" fmla="*/ 2147483646 h 817"/>
              <a:gd name="T54" fmla="*/ 2147483646 w 1309"/>
              <a:gd name="T55" fmla="*/ 2147483646 h 817"/>
              <a:gd name="T56" fmla="*/ 2147483646 w 1309"/>
              <a:gd name="T57" fmla="*/ 2147483646 h 817"/>
              <a:gd name="T58" fmla="*/ 2147483646 w 1309"/>
              <a:gd name="T59" fmla="*/ 2147483646 h 817"/>
              <a:gd name="T60" fmla="*/ 2147483646 w 1309"/>
              <a:gd name="T61" fmla="*/ 2147483646 h 817"/>
              <a:gd name="T62" fmla="*/ 2147483646 w 1309"/>
              <a:gd name="T63" fmla="*/ 2147483646 h 817"/>
              <a:gd name="T64" fmla="*/ 2147483646 w 1309"/>
              <a:gd name="T65" fmla="*/ 2147483646 h 817"/>
              <a:gd name="T66" fmla="*/ 2147483646 w 1309"/>
              <a:gd name="T67" fmla="*/ 2147483646 h 817"/>
              <a:gd name="T68" fmla="*/ 0 w 1309"/>
              <a:gd name="T69" fmla="*/ 2147483646 h 817"/>
              <a:gd name="T70" fmla="*/ 2147483646 w 1309"/>
              <a:gd name="T71" fmla="*/ 2147483646 h 817"/>
              <a:gd name="T72" fmla="*/ 2147483646 w 1309"/>
              <a:gd name="T73" fmla="*/ 2147483646 h 817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309" h="817">
                <a:moveTo>
                  <a:pt x="216" y="512"/>
                </a:moveTo>
                <a:cubicBezTo>
                  <a:pt x="201" y="468"/>
                  <a:pt x="166" y="425"/>
                  <a:pt x="128" y="400"/>
                </a:cubicBezTo>
                <a:cubicBezTo>
                  <a:pt x="111" y="374"/>
                  <a:pt x="97" y="346"/>
                  <a:pt x="80" y="320"/>
                </a:cubicBezTo>
                <a:cubicBezTo>
                  <a:pt x="89" y="172"/>
                  <a:pt x="54" y="163"/>
                  <a:pt x="184" y="176"/>
                </a:cubicBezTo>
                <a:cubicBezTo>
                  <a:pt x="187" y="189"/>
                  <a:pt x="179" y="220"/>
                  <a:pt x="192" y="216"/>
                </a:cubicBezTo>
                <a:cubicBezTo>
                  <a:pt x="204" y="212"/>
                  <a:pt x="215" y="116"/>
                  <a:pt x="224" y="104"/>
                </a:cubicBezTo>
                <a:cubicBezTo>
                  <a:pt x="247" y="75"/>
                  <a:pt x="302" y="71"/>
                  <a:pt x="336" y="64"/>
                </a:cubicBezTo>
                <a:cubicBezTo>
                  <a:pt x="393" y="71"/>
                  <a:pt x="394" y="58"/>
                  <a:pt x="424" y="96"/>
                </a:cubicBezTo>
                <a:cubicBezTo>
                  <a:pt x="436" y="111"/>
                  <a:pt x="450" y="126"/>
                  <a:pt x="456" y="144"/>
                </a:cubicBezTo>
                <a:cubicBezTo>
                  <a:pt x="461" y="160"/>
                  <a:pt x="472" y="192"/>
                  <a:pt x="472" y="192"/>
                </a:cubicBezTo>
                <a:cubicBezTo>
                  <a:pt x="482" y="140"/>
                  <a:pt x="488" y="48"/>
                  <a:pt x="544" y="16"/>
                </a:cubicBezTo>
                <a:cubicBezTo>
                  <a:pt x="561" y="6"/>
                  <a:pt x="582" y="6"/>
                  <a:pt x="600" y="0"/>
                </a:cubicBezTo>
                <a:cubicBezTo>
                  <a:pt x="651" y="10"/>
                  <a:pt x="675" y="28"/>
                  <a:pt x="704" y="72"/>
                </a:cubicBezTo>
                <a:cubicBezTo>
                  <a:pt x="707" y="83"/>
                  <a:pt x="709" y="93"/>
                  <a:pt x="712" y="104"/>
                </a:cubicBezTo>
                <a:cubicBezTo>
                  <a:pt x="717" y="120"/>
                  <a:pt x="728" y="152"/>
                  <a:pt x="728" y="152"/>
                </a:cubicBezTo>
                <a:cubicBezTo>
                  <a:pt x="763" y="143"/>
                  <a:pt x="785" y="126"/>
                  <a:pt x="816" y="112"/>
                </a:cubicBezTo>
                <a:cubicBezTo>
                  <a:pt x="841" y="101"/>
                  <a:pt x="869" y="95"/>
                  <a:pt x="896" y="88"/>
                </a:cubicBezTo>
                <a:cubicBezTo>
                  <a:pt x="926" y="92"/>
                  <a:pt x="963" y="83"/>
                  <a:pt x="984" y="104"/>
                </a:cubicBezTo>
                <a:cubicBezTo>
                  <a:pt x="997" y="117"/>
                  <a:pt x="998" y="137"/>
                  <a:pt x="1008" y="152"/>
                </a:cubicBezTo>
                <a:cubicBezTo>
                  <a:pt x="1032" y="247"/>
                  <a:pt x="987" y="228"/>
                  <a:pt x="1104" y="240"/>
                </a:cubicBezTo>
                <a:cubicBezTo>
                  <a:pt x="1160" y="277"/>
                  <a:pt x="1141" y="256"/>
                  <a:pt x="1168" y="296"/>
                </a:cubicBezTo>
                <a:cubicBezTo>
                  <a:pt x="1189" y="380"/>
                  <a:pt x="1190" y="404"/>
                  <a:pt x="1112" y="456"/>
                </a:cubicBezTo>
                <a:cubicBezTo>
                  <a:pt x="1204" y="469"/>
                  <a:pt x="1234" y="513"/>
                  <a:pt x="1288" y="584"/>
                </a:cubicBezTo>
                <a:cubicBezTo>
                  <a:pt x="1293" y="600"/>
                  <a:pt x="1309" y="616"/>
                  <a:pt x="1304" y="632"/>
                </a:cubicBezTo>
                <a:cubicBezTo>
                  <a:pt x="1293" y="664"/>
                  <a:pt x="1291" y="689"/>
                  <a:pt x="1264" y="712"/>
                </a:cubicBezTo>
                <a:cubicBezTo>
                  <a:pt x="1230" y="741"/>
                  <a:pt x="1171" y="743"/>
                  <a:pt x="1128" y="752"/>
                </a:cubicBezTo>
                <a:cubicBezTo>
                  <a:pt x="1072" y="749"/>
                  <a:pt x="1015" y="754"/>
                  <a:pt x="960" y="744"/>
                </a:cubicBezTo>
                <a:cubicBezTo>
                  <a:pt x="941" y="740"/>
                  <a:pt x="912" y="712"/>
                  <a:pt x="912" y="712"/>
                </a:cubicBezTo>
                <a:cubicBezTo>
                  <a:pt x="901" y="678"/>
                  <a:pt x="889" y="677"/>
                  <a:pt x="856" y="688"/>
                </a:cubicBezTo>
                <a:cubicBezTo>
                  <a:pt x="820" y="724"/>
                  <a:pt x="798" y="723"/>
                  <a:pt x="744" y="736"/>
                </a:cubicBezTo>
                <a:cubicBezTo>
                  <a:pt x="732" y="739"/>
                  <a:pt x="723" y="748"/>
                  <a:pt x="712" y="752"/>
                </a:cubicBezTo>
                <a:cubicBezTo>
                  <a:pt x="696" y="758"/>
                  <a:pt x="664" y="768"/>
                  <a:pt x="664" y="768"/>
                </a:cubicBezTo>
                <a:cubicBezTo>
                  <a:pt x="373" y="757"/>
                  <a:pt x="494" y="817"/>
                  <a:pt x="424" y="712"/>
                </a:cubicBezTo>
                <a:cubicBezTo>
                  <a:pt x="295" y="724"/>
                  <a:pt x="223" y="726"/>
                  <a:pt x="80" y="720"/>
                </a:cubicBezTo>
                <a:cubicBezTo>
                  <a:pt x="21" y="700"/>
                  <a:pt x="11" y="665"/>
                  <a:pt x="0" y="608"/>
                </a:cubicBezTo>
                <a:cubicBezTo>
                  <a:pt x="13" y="520"/>
                  <a:pt x="12" y="517"/>
                  <a:pt x="96" y="496"/>
                </a:cubicBezTo>
                <a:cubicBezTo>
                  <a:pt x="206" y="504"/>
                  <a:pt x="169" y="488"/>
                  <a:pt x="216" y="512"/>
                </a:cubicBezTo>
                <a:close/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99335" name="Text Box 6">
            <a:extLst>
              <a:ext uri="{FF2B5EF4-FFF2-40B4-BE49-F238E27FC236}">
                <a16:creationId xmlns:a16="http://schemas.microsoft.com/office/drawing/2014/main" id="{BBF7BA3C-B868-54BB-3906-CE4DCA5AB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35280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bg1"/>
                </a:solidFill>
              </a:rPr>
              <a:t>Behovssituasjonen</a:t>
            </a:r>
            <a:endParaRPr lang="en-GB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4">
            <a:extLst>
              <a:ext uri="{FF2B5EF4-FFF2-40B4-BE49-F238E27FC236}">
                <a16:creationId xmlns:a16="http://schemas.microsoft.com/office/drawing/2014/main" id="{9FB9EF0A-C85B-B5BD-DA82-F87263404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101379" name="Slide Number Placeholder 5">
            <a:extLst>
              <a:ext uri="{FF2B5EF4-FFF2-40B4-BE49-F238E27FC236}">
                <a16:creationId xmlns:a16="http://schemas.microsoft.com/office/drawing/2014/main" id="{2D5DE5B4-DBED-5FBF-2DFF-568013A2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04C7E9-011A-4416-9E38-E8BECB2AE79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04986880-3FDD-3156-6BC6-B13233B54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>
                <a:latin typeface="Aptos" panose="020B0004020202020204" pitchFamily="34" charset="0"/>
              </a:rPr>
              <a:t>Kravspesifikasjon</a:t>
            </a:r>
            <a:endParaRPr lang="en-GB" altLang="en-US" sz="2800" b="1" i="1">
              <a:latin typeface="Aptos" panose="020B0004020202020204" pitchFamily="34" charset="0"/>
            </a:endParaRPr>
          </a:p>
        </p:txBody>
      </p:sp>
      <p:sp>
        <p:nvSpPr>
          <p:cNvPr id="101381" name="Rectangle 3">
            <a:extLst>
              <a:ext uri="{FF2B5EF4-FFF2-40B4-BE49-F238E27FC236}">
                <a16:creationId xmlns:a16="http://schemas.microsoft.com/office/drawing/2014/main" id="{FDFE8617-B872-8DBF-846B-357A3B5FBF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0668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altLang="en-US">
                <a:cs typeface="Times New Roman" panose="02020603050405020304" pitchFamily="18" charset="0"/>
              </a:rPr>
              <a:t>   Deretter må man identifiserer problem(ene), for å kunne jobbe løsningsorientert.</a:t>
            </a:r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101382" name="Freeform 5">
            <a:extLst>
              <a:ext uri="{FF2B5EF4-FFF2-40B4-BE49-F238E27FC236}">
                <a16:creationId xmlns:a16="http://schemas.microsoft.com/office/drawing/2014/main" id="{3A84F42D-E84E-BD6E-65ED-5F05F3A12EC2}"/>
              </a:ext>
            </a:extLst>
          </p:cNvPr>
          <p:cNvSpPr>
            <a:spLocks/>
          </p:cNvSpPr>
          <p:nvPr/>
        </p:nvSpPr>
        <p:spPr bwMode="auto">
          <a:xfrm>
            <a:off x="4191000" y="2819400"/>
            <a:ext cx="3525838" cy="1296988"/>
          </a:xfrm>
          <a:custGeom>
            <a:avLst/>
            <a:gdLst>
              <a:gd name="T0" fmla="*/ 2147483646 w 1309"/>
              <a:gd name="T1" fmla="*/ 2147483646 h 817"/>
              <a:gd name="T2" fmla="*/ 2147483646 w 1309"/>
              <a:gd name="T3" fmla="*/ 2147483646 h 817"/>
              <a:gd name="T4" fmla="*/ 2147483646 w 1309"/>
              <a:gd name="T5" fmla="*/ 2147483646 h 817"/>
              <a:gd name="T6" fmla="*/ 2147483646 w 1309"/>
              <a:gd name="T7" fmla="*/ 2147483646 h 817"/>
              <a:gd name="T8" fmla="*/ 2147483646 w 1309"/>
              <a:gd name="T9" fmla="*/ 2147483646 h 817"/>
              <a:gd name="T10" fmla="*/ 2147483646 w 1309"/>
              <a:gd name="T11" fmla="*/ 2147483646 h 817"/>
              <a:gd name="T12" fmla="*/ 2147483646 w 1309"/>
              <a:gd name="T13" fmla="*/ 2147483646 h 817"/>
              <a:gd name="T14" fmla="*/ 2147483646 w 1309"/>
              <a:gd name="T15" fmla="*/ 2147483646 h 817"/>
              <a:gd name="T16" fmla="*/ 2147483646 w 1309"/>
              <a:gd name="T17" fmla="*/ 2147483646 h 817"/>
              <a:gd name="T18" fmla="*/ 2147483646 w 1309"/>
              <a:gd name="T19" fmla="*/ 2147483646 h 817"/>
              <a:gd name="T20" fmla="*/ 2147483646 w 1309"/>
              <a:gd name="T21" fmla="*/ 2147483646 h 817"/>
              <a:gd name="T22" fmla="*/ 2147483646 w 1309"/>
              <a:gd name="T23" fmla="*/ 0 h 817"/>
              <a:gd name="T24" fmla="*/ 2147483646 w 1309"/>
              <a:gd name="T25" fmla="*/ 2147483646 h 817"/>
              <a:gd name="T26" fmla="*/ 2147483646 w 1309"/>
              <a:gd name="T27" fmla="*/ 2147483646 h 817"/>
              <a:gd name="T28" fmla="*/ 2147483646 w 1309"/>
              <a:gd name="T29" fmla="*/ 2147483646 h 817"/>
              <a:gd name="T30" fmla="*/ 2147483646 w 1309"/>
              <a:gd name="T31" fmla="*/ 2147483646 h 817"/>
              <a:gd name="T32" fmla="*/ 2147483646 w 1309"/>
              <a:gd name="T33" fmla="*/ 2147483646 h 817"/>
              <a:gd name="T34" fmla="*/ 2147483646 w 1309"/>
              <a:gd name="T35" fmla="*/ 2147483646 h 817"/>
              <a:gd name="T36" fmla="*/ 2147483646 w 1309"/>
              <a:gd name="T37" fmla="*/ 2147483646 h 817"/>
              <a:gd name="T38" fmla="*/ 2147483646 w 1309"/>
              <a:gd name="T39" fmla="*/ 2147483646 h 817"/>
              <a:gd name="T40" fmla="*/ 2147483646 w 1309"/>
              <a:gd name="T41" fmla="*/ 2147483646 h 817"/>
              <a:gd name="T42" fmla="*/ 2147483646 w 1309"/>
              <a:gd name="T43" fmla="*/ 2147483646 h 817"/>
              <a:gd name="T44" fmla="*/ 2147483646 w 1309"/>
              <a:gd name="T45" fmla="*/ 2147483646 h 817"/>
              <a:gd name="T46" fmla="*/ 2147483646 w 1309"/>
              <a:gd name="T47" fmla="*/ 2147483646 h 817"/>
              <a:gd name="T48" fmla="*/ 2147483646 w 1309"/>
              <a:gd name="T49" fmla="*/ 2147483646 h 817"/>
              <a:gd name="T50" fmla="*/ 2147483646 w 1309"/>
              <a:gd name="T51" fmla="*/ 2147483646 h 817"/>
              <a:gd name="T52" fmla="*/ 2147483646 w 1309"/>
              <a:gd name="T53" fmla="*/ 2147483646 h 817"/>
              <a:gd name="T54" fmla="*/ 2147483646 w 1309"/>
              <a:gd name="T55" fmla="*/ 2147483646 h 817"/>
              <a:gd name="T56" fmla="*/ 2147483646 w 1309"/>
              <a:gd name="T57" fmla="*/ 2147483646 h 817"/>
              <a:gd name="T58" fmla="*/ 2147483646 w 1309"/>
              <a:gd name="T59" fmla="*/ 2147483646 h 817"/>
              <a:gd name="T60" fmla="*/ 2147483646 w 1309"/>
              <a:gd name="T61" fmla="*/ 2147483646 h 817"/>
              <a:gd name="T62" fmla="*/ 2147483646 w 1309"/>
              <a:gd name="T63" fmla="*/ 2147483646 h 817"/>
              <a:gd name="T64" fmla="*/ 2147483646 w 1309"/>
              <a:gd name="T65" fmla="*/ 2147483646 h 817"/>
              <a:gd name="T66" fmla="*/ 2147483646 w 1309"/>
              <a:gd name="T67" fmla="*/ 2147483646 h 817"/>
              <a:gd name="T68" fmla="*/ 0 w 1309"/>
              <a:gd name="T69" fmla="*/ 2147483646 h 817"/>
              <a:gd name="T70" fmla="*/ 2147483646 w 1309"/>
              <a:gd name="T71" fmla="*/ 2147483646 h 817"/>
              <a:gd name="T72" fmla="*/ 2147483646 w 1309"/>
              <a:gd name="T73" fmla="*/ 2147483646 h 817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309" h="817">
                <a:moveTo>
                  <a:pt x="216" y="512"/>
                </a:moveTo>
                <a:cubicBezTo>
                  <a:pt x="201" y="468"/>
                  <a:pt x="166" y="425"/>
                  <a:pt x="128" y="400"/>
                </a:cubicBezTo>
                <a:cubicBezTo>
                  <a:pt x="111" y="374"/>
                  <a:pt x="97" y="346"/>
                  <a:pt x="80" y="320"/>
                </a:cubicBezTo>
                <a:cubicBezTo>
                  <a:pt x="89" y="172"/>
                  <a:pt x="54" y="163"/>
                  <a:pt x="184" y="176"/>
                </a:cubicBezTo>
                <a:cubicBezTo>
                  <a:pt x="187" y="189"/>
                  <a:pt x="179" y="220"/>
                  <a:pt x="192" y="216"/>
                </a:cubicBezTo>
                <a:cubicBezTo>
                  <a:pt x="204" y="212"/>
                  <a:pt x="215" y="116"/>
                  <a:pt x="224" y="104"/>
                </a:cubicBezTo>
                <a:cubicBezTo>
                  <a:pt x="247" y="75"/>
                  <a:pt x="302" y="71"/>
                  <a:pt x="336" y="64"/>
                </a:cubicBezTo>
                <a:cubicBezTo>
                  <a:pt x="393" y="71"/>
                  <a:pt x="394" y="58"/>
                  <a:pt x="424" y="96"/>
                </a:cubicBezTo>
                <a:cubicBezTo>
                  <a:pt x="436" y="111"/>
                  <a:pt x="450" y="126"/>
                  <a:pt x="456" y="144"/>
                </a:cubicBezTo>
                <a:cubicBezTo>
                  <a:pt x="461" y="160"/>
                  <a:pt x="472" y="192"/>
                  <a:pt x="472" y="192"/>
                </a:cubicBezTo>
                <a:cubicBezTo>
                  <a:pt x="482" y="140"/>
                  <a:pt x="488" y="48"/>
                  <a:pt x="544" y="16"/>
                </a:cubicBezTo>
                <a:cubicBezTo>
                  <a:pt x="561" y="6"/>
                  <a:pt x="582" y="6"/>
                  <a:pt x="600" y="0"/>
                </a:cubicBezTo>
                <a:cubicBezTo>
                  <a:pt x="651" y="10"/>
                  <a:pt x="675" y="28"/>
                  <a:pt x="704" y="72"/>
                </a:cubicBezTo>
                <a:cubicBezTo>
                  <a:pt x="707" y="83"/>
                  <a:pt x="709" y="93"/>
                  <a:pt x="712" y="104"/>
                </a:cubicBezTo>
                <a:cubicBezTo>
                  <a:pt x="717" y="120"/>
                  <a:pt x="728" y="152"/>
                  <a:pt x="728" y="152"/>
                </a:cubicBezTo>
                <a:cubicBezTo>
                  <a:pt x="763" y="143"/>
                  <a:pt x="785" y="126"/>
                  <a:pt x="816" y="112"/>
                </a:cubicBezTo>
                <a:cubicBezTo>
                  <a:pt x="841" y="101"/>
                  <a:pt x="869" y="95"/>
                  <a:pt x="896" y="88"/>
                </a:cubicBezTo>
                <a:cubicBezTo>
                  <a:pt x="926" y="92"/>
                  <a:pt x="963" y="83"/>
                  <a:pt x="984" y="104"/>
                </a:cubicBezTo>
                <a:cubicBezTo>
                  <a:pt x="997" y="117"/>
                  <a:pt x="998" y="137"/>
                  <a:pt x="1008" y="152"/>
                </a:cubicBezTo>
                <a:cubicBezTo>
                  <a:pt x="1032" y="247"/>
                  <a:pt x="987" y="228"/>
                  <a:pt x="1104" y="240"/>
                </a:cubicBezTo>
                <a:cubicBezTo>
                  <a:pt x="1160" y="277"/>
                  <a:pt x="1141" y="256"/>
                  <a:pt x="1168" y="296"/>
                </a:cubicBezTo>
                <a:cubicBezTo>
                  <a:pt x="1189" y="380"/>
                  <a:pt x="1190" y="404"/>
                  <a:pt x="1112" y="456"/>
                </a:cubicBezTo>
                <a:cubicBezTo>
                  <a:pt x="1204" y="469"/>
                  <a:pt x="1234" y="513"/>
                  <a:pt x="1288" y="584"/>
                </a:cubicBezTo>
                <a:cubicBezTo>
                  <a:pt x="1293" y="600"/>
                  <a:pt x="1309" y="616"/>
                  <a:pt x="1304" y="632"/>
                </a:cubicBezTo>
                <a:cubicBezTo>
                  <a:pt x="1293" y="664"/>
                  <a:pt x="1291" y="689"/>
                  <a:pt x="1264" y="712"/>
                </a:cubicBezTo>
                <a:cubicBezTo>
                  <a:pt x="1230" y="741"/>
                  <a:pt x="1171" y="743"/>
                  <a:pt x="1128" y="752"/>
                </a:cubicBezTo>
                <a:cubicBezTo>
                  <a:pt x="1072" y="749"/>
                  <a:pt x="1015" y="754"/>
                  <a:pt x="960" y="744"/>
                </a:cubicBezTo>
                <a:cubicBezTo>
                  <a:pt x="941" y="740"/>
                  <a:pt x="912" y="712"/>
                  <a:pt x="912" y="712"/>
                </a:cubicBezTo>
                <a:cubicBezTo>
                  <a:pt x="901" y="678"/>
                  <a:pt x="889" y="677"/>
                  <a:pt x="856" y="688"/>
                </a:cubicBezTo>
                <a:cubicBezTo>
                  <a:pt x="820" y="724"/>
                  <a:pt x="798" y="723"/>
                  <a:pt x="744" y="736"/>
                </a:cubicBezTo>
                <a:cubicBezTo>
                  <a:pt x="732" y="739"/>
                  <a:pt x="723" y="748"/>
                  <a:pt x="712" y="752"/>
                </a:cubicBezTo>
                <a:cubicBezTo>
                  <a:pt x="696" y="758"/>
                  <a:pt x="664" y="768"/>
                  <a:pt x="664" y="768"/>
                </a:cubicBezTo>
                <a:cubicBezTo>
                  <a:pt x="373" y="757"/>
                  <a:pt x="494" y="817"/>
                  <a:pt x="424" y="712"/>
                </a:cubicBezTo>
                <a:cubicBezTo>
                  <a:pt x="295" y="724"/>
                  <a:pt x="223" y="726"/>
                  <a:pt x="80" y="720"/>
                </a:cubicBezTo>
                <a:cubicBezTo>
                  <a:pt x="21" y="700"/>
                  <a:pt x="11" y="665"/>
                  <a:pt x="0" y="608"/>
                </a:cubicBezTo>
                <a:cubicBezTo>
                  <a:pt x="13" y="520"/>
                  <a:pt x="12" y="517"/>
                  <a:pt x="96" y="496"/>
                </a:cubicBezTo>
                <a:cubicBezTo>
                  <a:pt x="206" y="504"/>
                  <a:pt x="169" y="488"/>
                  <a:pt x="216" y="512"/>
                </a:cubicBezTo>
                <a:close/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1383" name="Freeform 6">
            <a:extLst>
              <a:ext uri="{FF2B5EF4-FFF2-40B4-BE49-F238E27FC236}">
                <a16:creationId xmlns:a16="http://schemas.microsoft.com/office/drawing/2014/main" id="{6E159EB1-071F-DD58-876E-0E7710F119D6}"/>
              </a:ext>
            </a:extLst>
          </p:cNvPr>
          <p:cNvSpPr>
            <a:spLocks/>
          </p:cNvSpPr>
          <p:nvPr/>
        </p:nvSpPr>
        <p:spPr bwMode="auto">
          <a:xfrm>
            <a:off x="4191000" y="4419601"/>
            <a:ext cx="3113088" cy="923925"/>
          </a:xfrm>
          <a:custGeom>
            <a:avLst/>
            <a:gdLst>
              <a:gd name="T0" fmla="*/ 2147483646 w 1937"/>
              <a:gd name="T1" fmla="*/ 2147483646 h 630"/>
              <a:gd name="T2" fmla="*/ 2147483646 w 1937"/>
              <a:gd name="T3" fmla="*/ 2147483646 h 630"/>
              <a:gd name="T4" fmla="*/ 2147483646 w 1937"/>
              <a:gd name="T5" fmla="*/ 2147483646 h 630"/>
              <a:gd name="T6" fmla="*/ 2147483646 w 1937"/>
              <a:gd name="T7" fmla="*/ 2147483646 h 630"/>
              <a:gd name="T8" fmla="*/ 2147483646 w 1937"/>
              <a:gd name="T9" fmla="*/ 2147483646 h 630"/>
              <a:gd name="T10" fmla="*/ 2147483646 w 1937"/>
              <a:gd name="T11" fmla="*/ 2147483646 h 630"/>
              <a:gd name="T12" fmla="*/ 2147483646 w 1937"/>
              <a:gd name="T13" fmla="*/ 2147483646 h 630"/>
              <a:gd name="T14" fmla="*/ 2147483646 w 1937"/>
              <a:gd name="T15" fmla="*/ 2147483646 h 630"/>
              <a:gd name="T16" fmla="*/ 2147483646 w 1937"/>
              <a:gd name="T17" fmla="*/ 2147483646 h 630"/>
              <a:gd name="T18" fmla="*/ 2147483646 w 1937"/>
              <a:gd name="T19" fmla="*/ 2147483646 h 630"/>
              <a:gd name="T20" fmla="*/ 2147483646 w 1937"/>
              <a:gd name="T21" fmla="*/ 2147483646 h 630"/>
              <a:gd name="T22" fmla="*/ 2147483646 w 1937"/>
              <a:gd name="T23" fmla="*/ 2147483646 h 630"/>
              <a:gd name="T24" fmla="*/ 2147483646 w 1937"/>
              <a:gd name="T25" fmla="*/ 2147483646 h 630"/>
              <a:gd name="T26" fmla="*/ 2147483646 w 1937"/>
              <a:gd name="T27" fmla="*/ 2147483646 h 630"/>
              <a:gd name="T28" fmla="*/ 2147483646 w 1937"/>
              <a:gd name="T29" fmla="*/ 2147483646 h 630"/>
              <a:gd name="T30" fmla="*/ 2147483646 w 1937"/>
              <a:gd name="T31" fmla="*/ 2147483646 h 630"/>
              <a:gd name="T32" fmla="*/ 2147483646 w 1937"/>
              <a:gd name="T33" fmla="*/ 2147483646 h 630"/>
              <a:gd name="T34" fmla="*/ 2147483646 w 1937"/>
              <a:gd name="T35" fmla="*/ 2147483646 h 630"/>
              <a:gd name="T36" fmla="*/ 2147483646 w 1937"/>
              <a:gd name="T37" fmla="*/ 2147483646 h 63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937" h="630">
                <a:moveTo>
                  <a:pt x="729" y="622"/>
                </a:moveTo>
                <a:cubicBezTo>
                  <a:pt x="649" y="614"/>
                  <a:pt x="569" y="605"/>
                  <a:pt x="489" y="598"/>
                </a:cubicBezTo>
                <a:cubicBezTo>
                  <a:pt x="439" y="585"/>
                  <a:pt x="386" y="589"/>
                  <a:pt x="337" y="574"/>
                </a:cubicBezTo>
                <a:cubicBezTo>
                  <a:pt x="304" y="564"/>
                  <a:pt x="275" y="550"/>
                  <a:pt x="241" y="542"/>
                </a:cubicBezTo>
                <a:cubicBezTo>
                  <a:pt x="212" y="523"/>
                  <a:pt x="178" y="505"/>
                  <a:pt x="145" y="494"/>
                </a:cubicBezTo>
                <a:cubicBezTo>
                  <a:pt x="102" y="451"/>
                  <a:pt x="130" y="477"/>
                  <a:pt x="57" y="422"/>
                </a:cubicBezTo>
                <a:cubicBezTo>
                  <a:pt x="21" y="395"/>
                  <a:pt x="11" y="335"/>
                  <a:pt x="1" y="294"/>
                </a:cubicBezTo>
                <a:cubicBezTo>
                  <a:pt x="4" y="251"/>
                  <a:pt x="0" y="208"/>
                  <a:pt x="9" y="166"/>
                </a:cubicBezTo>
                <a:cubicBezTo>
                  <a:pt x="11" y="157"/>
                  <a:pt x="25" y="155"/>
                  <a:pt x="33" y="150"/>
                </a:cubicBezTo>
                <a:cubicBezTo>
                  <a:pt x="66" y="131"/>
                  <a:pt x="92" y="111"/>
                  <a:pt x="129" y="102"/>
                </a:cubicBezTo>
                <a:cubicBezTo>
                  <a:pt x="271" y="7"/>
                  <a:pt x="585" y="63"/>
                  <a:pt x="665" y="62"/>
                </a:cubicBezTo>
                <a:cubicBezTo>
                  <a:pt x="811" y="38"/>
                  <a:pt x="729" y="48"/>
                  <a:pt x="913" y="38"/>
                </a:cubicBezTo>
                <a:cubicBezTo>
                  <a:pt x="1139" y="0"/>
                  <a:pt x="1300" y="26"/>
                  <a:pt x="1569" y="30"/>
                </a:cubicBezTo>
                <a:cubicBezTo>
                  <a:pt x="1655" y="40"/>
                  <a:pt x="1791" y="69"/>
                  <a:pt x="1865" y="118"/>
                </a:cubicBezTo>
                <a:cubicBezTo>
                  <a:pt x="1877" y="135"/>
                  <a:pt x="1893" y="149"/>
                  <a:pt x="1905" y="166"/>
                </a:cubicBezTo>
                <a:cubicBezTo>
                  <a:pt x="1923" y="194"/>
                  <a:pt x="1931" y="238"/>
                  <a:pt x="1937" y="270"/>
                </a:cubicBezTo>
                <a:cubicBezTo>
                  <a:pt x="1934" y="326"/>
                  <a:pt x="1933" y="382"/>
                  <a:pt x="1929" y="438"/>
                </a:cubicBezTo>
                <a:cubicBezTo>
                  <a:pt x="1920" y="553"/>
                  <a:pt x="1812" y="610"/>
                  <a:pt x="1713" y="630"/>
                </a:cubicBezTo>
                <a:cubicBezTo>
                  <a:pt x="1129" y="618"/>
                  <a:pt x="1457" y="622"/>
                  <a:pt x="729" y="622"/>
                </a:cubicBezTo>
                <a:close/>
              </a:path>
            </a:pathLst>
          </a:custGeom>
          <a:solidFill>
            <a:srgbClr val="9999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1384" name="Text Box 7">
            <a:extLst>
              <a:ext uri="{FF2B5EF4-FFF2-40B4-BE49-F238E27FC236}">
                <a16:creationId xmlns:a16="http://schemas.microsoft.com/office/drawing/2014/main" id="{1C290495-3733-E468-7D67-6F9F411B4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35280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bg1"/>
                </a:solidFill>
              </a:rPr>
              <a:t>Behovssituasjonen</a:t>
            </a:r>
            <a:endParaRPr lang="en-GB" altLang="en-US" sz="2400">
              <a:solidFill>
                <a:schemeClr val="bg1"/>
              </a:solidFill>
            </a:endParaRPr>
          </a:p>
        </p:txBody>
      </p:sp>
      <p:sp>
        <p:nvSpPr>
          <p:cNvPr id="101385" name="Text Box 9">
            <a:extLst>
              <a:ext uri="{FF2B5EF4-FFF2-40B4-BE49-F238E27FC236}">
                <a16:creationId xmlns:a16="http://schemas.microsoft.com/office/drawing/2014/main" id="{2F0E45A7-F537-DB34-883A-0F4A3C16A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6482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bg1"/>
                </a:solidFill>
              </a:rPr>
              <a:t>Identifisere problem</a:t>
            </a:r>
            <a:endParaRPr lang="en-GB" altLang="en-US" sz="2400">
              <a:solidFill>
                <a:schemeClr val="bg1"/>
              </a:solidFill>
            </a:endParaRPr>
          </a:p>
        </p:txBody>
      </p:sp>
      <p:sp>
        <p:nvSpPr>
          <p:cNvPr id="101386" name="AutoShape 10">
            <a:extLst>
              <a:ext uri="{FF2B5EF4-FFF2-40B4-BE49-F238E27FC236}">
                <a16:creationId xmlns:a16="http://schemas.microsoft.com/office/drawing/2014/main" id="{F1A7A17E-624A-AA78-30FC-D9576CFA3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962400"/>
            <a:ext cx="9144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4">
            <a:extLst>
              <a:ext uri="{FF2B5EF4-FFF2-40B4-BE49-F238E27FC236}">
                <a16:creationId xmlns:a16="http://schemas.microsoft.com/office/drawing/2014/main" id="{5671B4A6-58B9-4805-3B41-704A4212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103427" name="Slide Number Placeholder 5">
            <a:extLst>
              <a:ext uri="{FF2B5EF4-FFF2-40B4-BE49-F238E27FC236}">
                <a16:creationId xmlns:a16="http://schemas.microsoft.com/office/drawing/2014/main" id="{FF1FA107-D696-DF53-963C-BA5D8298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70BFEC-3FC6-4D4C-8DB6-8D1308E7FDA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id="{66F0C267-39FD-7A28-ABC5-22F454E19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>
                <a:latin typeface="Aptos" panose="020B0004020202020204" pitchFamily="34" charset="0"/>
              </a:rPr>
              <a:t>Kravspesifikasjon</a:t>
            </a:r>
            <a:endParaRPr lang="en-GB" altLang="en-US" sz="2800" b="1" i="1">
              <a:latin typeface="Aptos" panose="020B0004020202020204" pitchFamily="34" charset="0"/>
            </a:endParaRPr>
          </a:p>
        </p:txBody>
      </p:sp>
      <p:sp>
        <p:nvSpPr>
          <p:cNvPr id="103429" name="Rectangle 3">
            <a:extLst>
              <a:ext uri="{FF2B5EF4-FFF2-40B4-BE49-F238E27FC236}">
                <a16:creationId xmlns:a16="http://schemas.microsoft.com/office/drawing/2014/main" id="{5AD46136-4B51-5AEA-3F59-8B7271F02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0668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altLang="en-US">
                <a:cs typeface="Times New Roman" panose="02020603050405020304" pitchFamily="18" charset="0"/>
              </a:rPr>
              <a:t>   Dette gir grunnlag for å kunne formulere kravene til løsningen</a:t>
            </a:r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103430" name="Freeform 4">
            <a:extLst>
              <a:ext uri="{FF2B5EF4-FFF2-40B4-BE49-F238E27FC236}">
                <a16:creationId xmlns:a16="http://schemas.microsoft.com/office/drawing/2014/main" id="{E516DF56-3D02-C3DC-70DD-B441934CE24C}"/>
              </a:ext>
            </a:extLst>
          </p:cNvPr>
          <p:cNvSpPr>
            <a:spLocks/>
          </p:cNvSpPr>
          <p:nvPr/>
        </p:nvSpPr>
        <p:spPr bwMode="auto">
          <a:xfrm>
            <a:off x="4191000" y="1981200"/>
            <a:ext cx="3525838" cy="1296988"/>
          </a:xfrm>
          <a:custGeom>
            <a:avLst/>
            <a:gdLst>
              <a:gd name="T0" fmla="*/ 2147483646 w 1309"/>
              <a:gd name="T1" fmla="*/ 2147483646 h 817"/>
              <a:gd name="T2" fmla="*/ 2147483646 w 1309"/>
              <a:gd name="T3" fmla="*/ 2147483646 h 817"/>
              <a:gd name="T4" fmla="*/ 2147483646 w 1309"/>
              <a:gd name="T5" fmla="*/ 2147483646 h 817"/>
              <a:gd name="T6" fmla="*/ 2147483646 w 1309"/>
              <a:gd name="T7" fmla="*/ 2147483646 h 817"/>
              <a:gd name="T8" fmla="*/ 2147483646 w 1309"/>
              <a:gd name="T9" fmla="*/ 2147483646 h 817"/>
              <a:gd name="T10" fmla="*/ 2147483646 w 1309"/>
              <a:gd name="T11" fmla="*/ 2147483646 h 817"/>
              <a:gd name="T12" fmla="*/ 2147483646 w 1309"/>
              <a:gd name="T13" fmla="*/ 2147483646 h 817"/>
              <a:gd name="T14" fmla="*/ 2147483646 w 1309"/>
              <a:gd name="T15" fmla="*/ 2147483646 h 817"/>
              <a:gd name="T16" fmla="*/ 2147483646 w 1309"/>
              <a:gd name="T17" fmla="*/ 2147483646 h 817"/>
              <a:gd name="T18" fmla="*/ 2147483646 w 1309"/>
              <a:gd name="T19" fmla="*/ 2147483646 h 817"/>
              <a:gd name="T20" fmla="*/ 2147483646 w 1309"/>
              <a:gd name="T21" fmla="*/ 2147483646 h 817"/>
              <a:gd name="T22" fmla="*/ 2147483646 w 1309"/>
              <a:gd name="T23" fmla="*/ 0 h 817"/>
              <a:gd name="T24" fmla="*/ 2147483646 w 1309"/>
              <a:gd name="T25" fmla="*/ 2147483646 h 817"/>
              <a:gd name="T26" fmla="*/ 2147483646 w 1309"/>
              <a:gd name="T27" fmla="*/ 2147483646 h 817"/>
              <a:gd name="T28" fmla="*/ 2147483646 w 1309"/>
              <a:gd name="T29" fmla="*/ 2147483646 h 817"/>
              <a:gd name="T30" fmla="*/ 2147483646 w 1309"/>
              <a:gd name="T31" fmla="*/ 2147483646 h 817"/>
              <a:gd name="T32" fmla="*/ 2147483646 w 1309"/>
              <a:gd name="T33" fmla="*/ 2147483646 h 817"/>
              <a:gd name="T34" fmla="*/ 2147483646 w 1309"/>
              <a:gd name="T35" fmla="*/ 2147483646 h 817"/>
              <a:gd name="T36" fmla="*/ 2147483646 w 1309"/>
              <a:gd name="T37" fmla="*/ 2147483646 h 817"/>
              <a:gd name="T38" fmla="*/ 2147483646 w 1309"/>
              <a:gd name="T39" fmla="*/ 2147483646 h 817"/>
              <a:gd name="T40" fmla="*/ 2147483646 w 1309"/>
              <a:gd name="T41" fmla="*/ 2147483646 h 817"/>
              <a:gd name="T42" fmla="*/ 2147483646 w 1309"/>
              <a:gd name="T43" fmla="*/ 2147483646 h 817"/>
              <a:gd name="T44" fmla="*/ 2147483646 w 1309"/>
              <a:gd name="T45" fmla="*/ 2147483646 h 817"/>
              <a:gd name="T46" fmla="*/ 2147483646 w 1309"/>
              <a:gd name="T47" fmla="*/ 2147483646 h 817"/>
              <a:gd name="T48" fmla="*/ 2147483646 w 1309"/>
              <a:gd name="T49" fmla="*/ 2147483646 h 817"/>
              <a:gd name="T50" fmla="*/ 2147483646 w 1309"/>
              <a:gd name="T51" fmla="*/ 2147483646 h 817"/>
              <a:gd name="T52" fmla="*/ 2147483646 w 1309"/>
              <a:gd name="T53" fmla="*/ 2147483646 h 817"/>
              <a:gd name="T54" fmla="*/ 2147483646 w 1309"/>
              <a:gd name="T55" fmla="*/ 2147483646 h 817"/>
              <a:gd name="T56" fmla="*/ 2147483646 w 1309"/>
              <a:gd name="T57" fmla="*/ 2147483646 h 817"/>
              <a:gd name="T58" fmla="*/ 2147483646 w 1309"/>
              <a:gd name="T59" fmla="*/ 2147483646 h 817"/>
              <a:gd name="T60" fmla="*/ 2147483646 w 1309"/>
              <a:gd name="T61" fmla="*/ 2147483646 h 817"/>
              <a:gd name="T62" fmla="*/ 2147483646 w 1309"/>
              <a:gd name="T63" fmla="*/ 2147483646 h 817"/>
              <a:gd name="T64" fmla="*/ 2147483646 w 1309"/>
              <a:gd name="T65" fmla="*/ 2147483646 h 817"/>
              <a:gd name="T66" fmla="*/ 2147483646 w 1309"/>
              <a:gd name="T67" fmla="*/ 2147483646 h 817"/>
              <a:gd name="T68" fmla="*/ 0 w 1309"/>
              <a:gd name="T69" fmla="*/ 2147483646 h 817"/>
              <a:gd name="T70" fmla="*/ 2147483646 w 1309"/>
              <a:gd name="T71" fmla="*/ 2147483646 h 817"/>
              <a:gd name="T72" fmla="*/ 2147483646 w 1309"/>
              <a:gd name="T73" fmla="*/ 2147483646 h 817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309" h="817">
                <a:moveTo>
                  <a:pt x="216" y="512"/>
                </a:moveTo>
                <a:cubicBezTo>
                  <a:pt x="201" y="468"/>
                  <a:pt x="166" y="425"/>
                  <a:pt x="128" y="400"/>
                </a:cubicBezTo>
                <a:cubicBezTo>
                  <a:pt x="111" y="374"/>
                  <a:pt x="97" y="346"/>
                  <a:pt x="80" y="320"/>
                </a:cubicBezTo>
                <a:cubicBezTo>
                  <a:pt x="89" y="172"/>
                  <a:pt x="54" y="163"/>
                  <a:pt x="184" y="176"/>
                </a:cubicBezTo>
                <a:cubicBezTo>
                  <a:pt x="187" y="189"/>
                  <a:pt x="179" y="220"/>
                  <a:pt x="192" y="216"/>
                </a:cubicBezTo>
                <a:cubicBezTo>
                  <a:pt x="204" y="212"/>
                  <a:pt x="215" y="116"/>
                  <a:pt x="224" y="104"/>
                </a:cubicBezTo>
                <a:cubicBezTo>
                  <a:pt x="247" y="75"/>
                  <a:pt x="302" y="71"/>
                  <a:pt x="336" y="64"/>
                </a:cubicBezTo>
                <a:cubicBezTo>
                  <a:pt x="393" y="71"/>
                  <a:pt x="394" y="58"/>
                  <a:pt x="424" y="96"/>
                </a:cubicBezTo>
                <a:cubicBezTo>
                  <a:pt x="436" y="111"/>
                  <a:pt x="450" y="126"/>
                  <a:pt x="456" y="144"/>
                </a:cubicBezTo>
                <a:cubicBezTo>
                  <a:pt x="461" y="160"/>
                  <a:pt x="472" y="192"/>
                  <a:pt x="472" y="192"/>
                </a:cubicBezTo>
                <a:cubicBezTo>
                  <a:pt x="482" y="140"/>
                  <a:pt x="488" y="48"/>
                  <a:pt x="544" y="16"/>
                </a:cubicBezTo>
                <a:cubicBezTo>
                  <a:pt x="561" y="6"/>
                  <a:pt x="582" y="6"/>
                  <a:pt x="600" y="0"/>
                </a:cubicBezTo>
                <a:cubicBezTo>
                  <a:pt x="651" y="10"/>
                  <a:pt x="675" y="28"/>
                  <a:pt x="704" y="72"/>
                </a:cubicBezTo>
                <a:cubicBezTo>
                  <a:pt x="707" y="83"/>
                  <a:pt x="709" y="93"/>
                  <a:pt x="712" y="104"/>
                </a:cubicBezTo>
                <a:cubicBezTo>
                  <a:pt x="717" y="120"/>
                  <a:pt x="728" y="152"/>
                  <a:pt x="728" y="152"/>
                </a:cubicBezTo>
                <a:cubicBezTo>
                  <a:pt x="763" y="143"/>
                  <a:pt x="785" y="126"/>
                  <a:pt x="816" y="112"/>
                </a:cubicBezTo>
                <a:cubicBezTo>
                  <a:pt x="841" y="101"/>
                  <a:pt x="869" y="95"/>
                  <a:pt x="896" y="88"/>
                </a:cubicBezTo>
                <a:cubicBezTo>
                  <a:pt x="926" y="92"/>
                  <a:pt x="963" y="83"/>
                  <a:pt x="984" y="104"/>
                </a:cubicBezTo>
                <a:cubicBezTo>
                  <a:pt x="997" y="117"/>
                  <a:pt x="998" y="137"/>
                  <a:pt x="1008" y="152"/>
                </a:cubicBezTo>
                <a:cubicBezTo>
                  <a:pt x="1032" y="247"/>
                  <a:pt x="987" y="228"/>
                  <a:pt x="1104" y="240"/>
                </a:cubicBezTo>
                <a:cubicBezTo>
                  <a:pt x="1160" y="277"/>
                  <a:pt x="1141" y="256"/>
                  <a:pt x="1168" y="296"/>
                </a:cubicBezTo>
                <a:cubicBezTo>
                  <a:pt x="1189" y="380"/>
                  <a:pt x="1190" y="404"/>
                  <a:pt x="1112" y="456"/>
                </a:cubicBezTo>
                <a:cubicBezTo>
                  <a:pt x="1204" y="469"/>
                  <a:pt x="1234" y="513"/>
                  <a:pt x="1288" y="584"/>
                </a:cubicBezTo>
                <a:cubicBezTo>
                  <a:pt x="1293" y="600"/>
                  <a:pt x="1309" y="616"/>
                  <a:pt x="1304" y="632"/>
                </a:cubicBezTo>
                <a:cubicBezTo>
                  <a:pt x="1293" y="664"/>
                  <a:pt x="1291" y="689"/>
                  <a:pt x="1264" y="712"/>
                </a:cubicBezTo>
                <a:cubicBezTo>
                  <a:pt x="1230" y="741"/>
                  <a:pt x="1171" y="743"/>
                  <a:pt x="1128" y="752"/>
                </a:cubicBezTo>
                <a:cubicBezTo>
                  <a:pt x="1072" y="749"/>
                  <a:pt x="1015" y="754"/>
                  <a:pt x="960" y="744"/>
                </a:cubicBezTo>
                <a:cubicBezTo>
                  <a:pt x="941" y="740"/>
                  <a:pt x="912" y="712"/>
                  <a:pt x="912" y="712"/>
                </a:cubicBezTo>
                <a:cubicBezTo>
                  <a:pt x="901" y="678"/>
                  <a:pt x="889" y="677"/>
                  <a:pt x="856" y="688"/>
                </a:cubicBezTo>
                <a:cubicBezTo>
                  <a:pt x="820" y="724"/>
                  <a:pt x="798" y="723"/>
                  <a:pt x="744" y="736"/>
                </a:cubicBezTo>
                <a:cubicBezTo>
                  <a:pt x="732" y="739"/>
                  <a:pt x="723" y="748"/>
                  <a:pt x="712" y="752"/>
                </a:cubicBezTo>
                <a:cubicBezTo>
                  <a:pt x="696" y="758"/>
                  <a:pt x="664" y="768"/>
                  <a:pt x="664" y="768"/>
                </a:cubicBezTo>
                <a:cubicBezTo>
                  <a:pt x="373" y="757"/>
                  <a:pt x="494" y="817"/>
                  <a:pt x="424" y="712"/>
                </a:cubicBezTo>
                <a:cubicBezTo>
                  <a:pt x="295" y="724"/>
                  <a:pt x="223" y="726"/>
                  <a:pt x="80" y="720"/>
                </a:cubicBezTo>
                <a:cubicBezTo>
                  <a:pt x="21" y="700"/>
                  <a:pt x="11" y="665"/>
                  <a:pt x="0" y="608"/>
                </a:cubicBezTo>
                <a:cubicBezTo>
                  <a:pt x="13" y="520"/>
                  <a:pt x="12" y="517"/>
                  <a:pt x="96" y="496"/>
                </a:cubicBezTo>
                <a:cubicBezTo>
                  <a:pt x="206" y="504"/>
                  <a:pt x="169" y="488"/>
                  <a:pt x="216" y="512"/>
                </a:cubicBezTo>
                <a:close/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3431" name="Freeform 5">
            <a:extLst>
              <a:ext uri="{FF2B5EF4-FFF2-40B4-BE49-F238E27FC236}">
                <a16:creationId xmlns:a16="http://schemas.microsoft.com/office/drawing/2014/main" id="{73D87A02-6661-99B5-91BA-F3A78A2A52FA}"/>
              </a:ext>
            </a:extLst>
          </p:cNvPr>
          <p:cNvSpPr>
            <a:spLocks/>
          </p:cNvSpPr>
          <p:nvPr/>
        </p:nvSpPr>
        <p:spPr bwMode="auto">
          <a:xfrm>
            <a:off x="4191000" y="3581401"/>
            <a:ext cx="3113088" cy="923925"/>
          </a:xfrm>
          <a:custGeom>
            <a:avLst/>
            <a:gdLst>
              <a:gd name="T0" fmla="*/ 2147483646 w 1937"/>
              <a:gd name="T1" fmla="*/ 2147483646 h 630"/>
              <a:gd name="T2" fmla="*/ 2147483646 w 1937"/>
              <a:gd name="T3" fmla="*/ 2147483646 h 630"/>
              <a:gd name="T4" fmla="*/ 2147483646 w 1937"/>
              <a:gd name="T5" fmla="*/ 2147483646 h 630"/>
              <a:gd name="T6" fmla="*/ 2147483646 w 1937"/>
              <a:gd name="T7" fmla="*/ 2147483646 h 630"/>
              <a:gd name="T8" fmla="*/ 2147483646 w 1937"/>
              <a:gd name="T9" fmla="*/ 2147483646 h 630"/>
              <a:gd name="T10" fmla="*/ 2147483646 w 1937"/>
              <a:gd name="T11" fmla="*/ 2147483646 h 630"/>
              <a:gd name="T12" fmla="*/ 2147483646 w 1937"/>
              <a:gd name="T13" fmla="*/ 2147483646 h 630"/>
              <a:gd name="T14" fmla="*/ 2147483646 w 1937"/>
              <a:gd name="T15" fmla="*/ 2147483646 h 630"/>
              <a:gd name="T16" fmla="*/ 2147483646 w 1937"/>
              <a:gd name="T17" fmla="*/ 2147483646 h 630"/>
              <a:gd name="T18" fmla="*/ 2147483646 w 1937"/>
              <a:gd name="T19" fmla="*/ 2147483646 h 630"/>
              <a:gd name="T20" fmla="*/ 2147483646 w 1937"/>
              <a:gd name="T21" fmla="*/ 2147483646 h 630"/>
              <a:gd name="T22" fmla="*/ 2147483646 w 1937"/>
              <a:gd name="T23" fmla="*/ 2147483646 h 630"/>
              <a:gd name="T24" fmla="*/ 2147483646 w 1937"/>
              <a:gd name="T25" fmla="*/ 2147483646 h 630"/>
              <a:gd name="T26" fmla="*/ 2147483646 w 1937"/>
              <a:gd name="T27" fmla="*/ 2147483646 h 630"/>
              <a:gd name="T28" fmla="*/ 2147483646 w 1937"/>
              <a:gd name="T29" fmla="*/ 2147483646 h 630"/>
              <a:gd name="T30" fmla="*/ 2147483646 w 1937"/>
              <a:gd name="T31" fmla="*/ 2147483646 h 630"/>
              <a:gd name="T32" fmla="*/ 2147483646 w 1937"/>
              <a:gd name="T33" fmla="*/ 2147483646 h 630"/>
              <a:gd name="T34" fmla="*/ 2147483646 w 1937"/>
              <a:gd name="T35" fmla="*/ 2147483646 h 630"/>
              <a:gd name="T36" fmla="*/ 2147483646 w 1937"/>
              <a:gd name="T37" fmla="*/ 2147483646 h 63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937" h="630">
                <a:moveTo>
                  <a:pt x="729" y="622"/>
                </a:moveTo>
                <a:cubicBezTo>
                  <a:pt x="649" y="614"/>
                  <a:pt x="569" y="605"/>
                  <a:pt x="489" y="598"/>
                </a:cubicBezTo>
                <a:cubicBezTo>
                  <a:pt x="439" y="585"/>
                  <a:pt x="386" y="589"/>
                  <a:pt x="337" y="574"/>
                </a:cubicBezTo>
                <a:cubicBezTo>
                  <a:pt x="304" y="564"/>
                  <a:pt x="275" y="550"/>
                  <a:pt x="241" y="542"/>
                </a:cubicBezTo>
                <a:cubicBezTo>
                  <a:pt x="212" y="523"/>
                  <a:pt x="178" y="505"/>
                  <a:pt x="145" y="494"/>
                </a:cubicBezTo>
                <a:cubicBezTo>
                  <a:pt x="102" y="451"/>
                  <a:pt x="130" y="477"/>
                  <a:pt x="57" y="422"/>
                </a:cubicBezTo>
                <a:cubicBezTo>
                  <a:pt x="21" y="395"/>
                  <a:pt x="11" y="335"/>
                  <a:pt x="1" y="294"/>
                </a:cubicBezTo>
                <a:cubicBezTo>
                  <a:pt x="4" y="251"/>
                  <a:pt x="0" y="208"/>
                  <a:pt x="9" y="166"/>
                </a:cubicBezTo>
                <a:cubicBezTo>
                  <a:pt x="11" y="157"/>
                  <a:pt x="25" y="155"/>
                  <a:pt x="33" y="150"/>
                </a:cubicBezTo>
                <a:cubicBezTo>
                  <a:pt x="66" y="131"/>
                  <a:pt x="92" y="111"/>
                  <a:pt x="129" y="102"/>
                </a:cubicBezTo>
                <a:cubicBezTo>
                  <a:pt x="271" y="7"/>
                  <a:pt x="585" y="63"/>
                  <a:pt x="665" y="62"/>
                </a:cubicBezTo>
                <a:cubicBezTo>
                  <a:pt x="811" y="38"/>
                  <a:pt x="729" y="48"/>
                  <a:pt x="913" y="38"/>
                </a:cubicBezTo>
                <a:cubicBezTo>
                  <a:pt x="1139" y="0"/>
                  <a:pt x="1300" y="26"/>
                  <a:pt x="1569" y="30"/>
                </a:cubicBezTo>
                <a:cubicBezTo>
                  <a:pt x="1655" y="40"/>
                  <a:pt x="1791" y="69"/>
                  <a:pt x="1865" y="118"/>
                </a:cubicBezTo>
                <a:cubicBezTo>
                  <a:pt x="1877" y="135"/>
                  <a:pt x="1893" y="149"/>
                  <a:pt x="1905" y="166"/>
                </a:cubicBezTo>
                <a:cubicBezTo>
                  <a:pt x="1923" y="194"/>
                  <a:pt x="1931" y="238"/>
                  <a:pt x="1937" y="270"/>
                </a:cubicBezTo>
                <a:cubicBezTo>
                  <a:pt x="1934" y="326"/>
                  <a:pt x="1933" y="382"/>
                  <a:pt x="1929" y="438"/>
                </a:cubicBezTo>
                <a:cubicBezTo>
                  <a:pt x="1920" y="553"/>
                  <a:pt x="1812" y="610"/>
                  <a:pt x="1713" y="630"/>
                </a:cubicBezTo>
                <a:cubicBezTo>
                  <a:pt x="1129" y="618"/>
                  <a:pt x="1457" y="622"/>
                  <a:pt x="729" y="622"/>
                </a:cubicBezTo>
                <a:close/>
              </a:path>
            </a:pathLst>
          </a:custGeom>
          <a:solidFill>
            <a:srgbClr val="9999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3432" name="Text Box 6">
            <a:extLst>
              <a:ext uri="{FF2B5EF4-FFF2-40B4-BE49-F238E27FC236}">
                <a16:creationId xmlns:a16="http://schemas.microsoft.com/office/drawing/2014/main" id="{4A0CD918-35A8-8D8C-A08B-70BF9EABE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1460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bg1"/>
                </a:solidFill>
              </a:rPr>
              <a:t>Behovssituasjonen</a:t>
            </a:r>
            <a:endParaRPr lang="en-GB" altLang="en-US" sz="2400">
              <a:solidFill>
                <a:schemeClr val="bg1"/>
              </a:solidFill>
            </a:endParaRPr>
          </a:p>
        </p:txBody>
      </p:sp>
      <p:sp>
        <p:nvSpPr>
          <p:cNvPr id="103433" name="Text Box 7">
            <a:extLst>
              <a:ext uri="{FF2B5EF4-FFF2-40B4-BE49-F238E27FC236}">
                <a16:creationId xmlns:a16="http://schemas.microsoft.com/office/drawing/2014/main" id="{25F123D9-6901-741A-DE5C-3D5118C61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8100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bg1"/>
                </a:solidFill>
              </a:rPr>
              <a:t>Identifisere problem</a:t>
            </a:r>
            <a:endParaRPr lang="en-GB" altLang="en-US" sz="2400">
              <a:solidFill>
                <a:schemeClr val="bg1"/>
              </a:solidFill>
            </a:endParaRPr>
          </a:p>
        </p:txBody>
      </p:sp>
      <p:sp>
        <p:nvSpPr>
          <p:cNvPr id="103434" name="AutoShape 8">
            <a:extLst>
              <a:ext uri="{FF2B5EF4-FFF2-40B4-BE49-F238E27FC236}">
                <a16:creationId xmlns:a16="http://schemas.microsoft.com/office/drawing/2014/main" id="{28674764-D317-E962-FE25-3BDFBDF7B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124200"/>
            <a:ext cx="914400" cy="609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3435" name="Oval 9">
            <a:extLst>
              <a:ext uri="{FF2B5EF4-FFF2-40B4-BE49-F238E27FC236}">
                <a16:creationId xmlns:a16="http://schemas.microsoft.com/office/drawing/2014/main" id="{DC8B20F0-4037-382B-7CB0-8F4B6F773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953000"/>
            <a:ext cx="3200400" cy="762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3436" name="Text Box 10">
            <a:extLst>
              <a:ext uri="{FF2B5EF4-FFF2-40B4-BE49-F238E27FC236}">
                <a16:creationId xmlns:a16="http://schemas.microsoft.com/office/drawing/2014/main" id="{8230CFC1-CD9D-29DF-2F2F-DC4F01BA1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1054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bg1"/>
                </a:solidFill>
              </a:rPr>
              <a:t>Formulere krav</a:t>
            </a:r>
            <a:endParaRPr lang="en-GB" altLang="en-US" sz="2400">
              <a:solidFill>
                <a:schemeClr val="bg1"/>
              </a:solidFill>
            </a:endParaRPr>
          </a:p>
        </p:txBody>
      </p:sp>
      <p:sp>
        <p:nvSpPr>
          <p:cNvPr id="103437" name="AutoShape 11">
            <a:extLst>
              <a:ext uri="{FF2B5EF4-FFF2-40B4-BE49-F238E27FC236}">
                <a16:creationId xmlns:a16="http://schemas.microsoft.com/office/drawing/2014/main" id="{6EA7AC85-1233-690F-9F5E-0D4F2BCE6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419600"/>
            <a:ext cx="914400" cy="609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4">
            <a:extLst>
              <a:ext uri="{FF2B5EF4-FFF2-40B4-BE49-F238E27FC236}">
                <a16:creationId xmlns:a16="http://schemas.microsoft.com/office/drawing/2014/main" id="{0DD1D34B-2E8B-DB0C-1A9C-67F35C5C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105475" name="Slide Number Placeholder 5">
            <a:extLst>
              <a:ext uri="{FF2B5EF4-FFF2-40B4-BE49-F238E27FC236}">
                <a16:creationId xmlns:a16="http://schemas.microsoft.com/office/drawing/2014/main" id="{31D289EB-02FB-B92C-8162-A62796B3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C85A5D-4CA6-4199-8FEE-43ADC0828CC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05476" name="AutoShape 43">
            <a:extLst>
              <a:ext uri="{FF2B5EF4-FFF2-40B4-BE49-F238E27FC236}">
                <a16:creationId xmlns:a16="http://schemas.microsoft.com/office/drawing/2014/main" id="{40568182-A75E-072D-F079-FD307A923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564063"/>
            <a:ext cx="2895600" cy="381000"/>
          </a:xfrm>
          <a:prstGeom prst="homePlate">
            <a:avLst>
              <a:gd name="adj" fmla="val 190000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5477" name="AutoShape 42">
            <a:extLst>
              <a:ext uri="{FF2B5EF4-FFF2-40B4-BE49-F238E27FC236}">
                <a16:creationId xmlns:a16="http://schemas.microsoft.com/office/drawing/2014/main" id="{F748DE54-7F99-21B8-6459-5BAFBCE58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700" y="3617913"/>
            <a:ext cx="2895600" cy="381000"/>
          </a:xfrm>
          <a:prstGeom prst="homePlate">
            <a:avLst>
              <a:gd name="adj" fmla="val 190000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5478" name="AutoShape 41">
            <a:extLst>
              <a:ext uri="{FF2B5EF4-FFF2-40B4-BE49-F238E27FC236}">
                <a16:creationId xmlns:a16="http://schemas.microsoft.com/office/drawing/2014/main" id="{3433A832-97D4-DB7F-B335-436396847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2689225"/>
            <a:ext cx="2895600" cy="381000"/>
          </a:xfrm>
          <a:prstGeom prst="homePlate">
            <a:avLst>
              <a:gd name="adj" fmla="val 190000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5479" name="AutoShape 39">
            <a:extLst>
              <a:ext uri="{FF2B5EF4-FFF2-40B4-BE49-F238E27FC236}">
                <a16:creationId xmlns:a16="http://schemas.microsoft.com/office/drawing/2014/main" id="{CE57AA83-197D-4C58-B5D8-69EA755FC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990600"/>
            <a:ext cx="2895600" cy="381000"/>
          </a:xfrm>
          <a:prstGeom prst="homePlate">
            <a:avLst>
              <a:gd name="adj" fmla="val 190000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>
              <a:solidFill>
                <a:schemeClr val="accent1"/>
              </a:solidFill>
            </a:endParaRPr>
          </a:p>
        </p:txBody>
      </p:sp>
      <p:sp>
        <p:nvSpPr>
          <p:cNvPr id="105480" name="Rectangle 2">
            <a:extLst>
              <a:ext uri="{FF2B5EF4-FFF2-40B4-BE49-F238E27FC236}">
                <a16:creationId xmlns:a16="http://schemas.microsoft.com/office/drawing/2014/main" id="{B7B99BAA-60DE-697B-B3C9-E0A6BC4DB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>
                <a:latin typeface="Aptos" panose="020B0004020202020204" pitchFamily="34" charset="0"/>
              </a:rPr>
              <a:t>Kravspesifikasjon</a:t>
            </a:r>
            <a:endParaRPr lang="en-GB" altLang="en-US" sz="2800" b="1" i="1">
              <a:latin typeface="Aptos" panose="020B0004020202020204" pitchFamily="34" charset="0"/>
            </a:endParaRPr>
          </a:p>
        </p:txBody>
      </p:sp>
      <p:sp>
        <p:nvSpPr>
          <p:cNvPr id="105481" name="Text Box 4">
            <a:extLst>
              <a:ext uri="{FF2B5EF4-FFF2-40B4-BE49-F238E27FC236}">
                <a16:creationId xmlns:a16="http://schemas.microsoft.com/office/drawing/2014/main" id="{ED64F321-6B5E-561B-9365-926E8E8D9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990600"/>
            <a:ext cx="28829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800">
                <a:solidFill>
                  <a:schemeClr val="accent2"/>
                </a:solidFill>
                <a:latin typeface="Aptos" panose="020B0004020202020204" pitchFamily="34" charset="0"/>
              </a:rPr>
              <a:t>Estetiske/semantiske</a:t>
            </a:r>
            <a:endParaRPr lang="en-GB" altLang="en-US" sz="18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5482" name="Text Box 5">
            <a:extLst>
              <a:ext uri="{FF2B5EF4-FFF2-40B4-BE49-F238E27FC236}">
                <a16:creationId xmlns:a16="http://schemas.microsoft.com/office/drawing/2014/main" id="{B388CA61-6C6A-1100-26CD-B10A70A55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2657475"/>
            <a:ext cx="31527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800">
                <a:solidFill>
                  <a:schemeClr val="accent2"/>
                </a:solidFill>
                <a:latin typeface="Aptos" panose="020B0004020202020204" pitchFamily="34" charset="0"/>
              </a:rPr>
              <a:t>Ergonomiske/funksjonelle</a:t>
            </a:r>
            <a:endParaRPr lang="en-GB" altLang="en-US" sz="18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5483" name="Text Box 6">
            <a:extLst>
              <a:ext uri="{FF2B5EF4-FFF2-40B4-BE49-F238E27FC236}">
                <a16:creationId xmlns:a16="http://schemas.microsoft.com/office/drawing/2014/main" id="{0A93595E-164C-6FED-92B5-6B584BCB3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3605213"/>
            <a:ext cx="2362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800">
                <a:solidFill>
                  <a:schemeClr val="accent2"/>
                </a:solidFill>
                <a:latin typeface="Aptos" panose="020B0004020202020204" pitchFamily="34" charset="0"/>
              </a:rPr>
              <a:t>Tekniske</a:t>
            </a:r>
            <a:endParaRPr lang="en-GB" altLang="en-US" sz="18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5484" name="Text Box 23">
            <a:extLst>
              <a:ext uri="{FF2B5EF4-FFF2-40B4-BE49-F238E27FC236}">
                <a16:creationId xmlns:a16="http://schemas.microsoft.com/office/drawing/2014/main" id="{5042464B-F4F2-4E53-BD75-F269A800C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9" y="4564063"/>
            <a:ext cx="26749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800">
                <a:solidFill>
                  <a:schemeClr val="accent2"/>
                </a:solidFill>
                <a:latin typeface="Aptos" panose="020B0004020202020204" pitchFamily="34" charset="0"/>
              </a:rPr>
              <a:t>Markedsøkonomiske</a:t>
            </a:r>
            <a:r>
              <a:rPr lang="nb-NO" altLang="en-US" sz="1800" u="sng">
                <a:solidFill>
                  <a:schemeClr val="accent2"/>
                </a:solidFill>
              </a:rPr>
              <a:t> </a:t>
            </a:r>
            <a:endParaRPr lang="en-GB" altLang="en-US" sz="1800" u="sng">
              <a:solidFill>
                <a:schemeClr val="accent2"/>
              </a:solidFill>
            </a:endParaRPr>
          </a:p>
        </p:txBody>
      </p:sp>
      <p:sp>
        <p:nvSpPr>
          <p:cNvPr id="105485" name="Text Box 35">
            <a:extLst>
              <a:ext uri="{FF2B5EF4-FFF2-40B4-BE49-F238E27FC236}">
                <a16:creationId xmlns:a16="http://schemas.microsoft.com/office/drawing/2014/main" id="{F8BF21B4-9CDE-4AB0-9D86-168E6B9C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1" y="990600"/>
            <a:ext cx="334962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</a:rPr>
              <a:t>- Semantiske verdier (uttrykk og identitet)                                         - Form                                                                                                 - Struktur                                                                                             - Materialer                                                                                         - Dimensjoner                                                                                     - Overflater                                                                                         - Farger</a:t>
            </a:r>
            <a:endParaRPr lang="en-GB" altLang="en-US" sz="1400">
              <a:solidFill>
                <a:schemeClr val="accent2"/>
              </a:solidFill>
            </a:endParaRPr>
          </a:p>
        </p:txBody>
      </p:sp>
      <p:sp>
        <p:nvSpPr>
          <p:cNvPr id="105486" name="Text Box 36">
            <a:extLst>
              <a:ext uri="{FF2B5EF4-FFF2-40B4-BE49-F238E27FC236}">
                <a16:creationId xmlns:a16="http://schemas.microsoft.com/office/drawing/2014/main" id="{AD6D24BF-6248-7700-70B4-7FA6EB526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2700339"/>
            <a:ext cx="4583112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</a:rPr>
              <a:t>- Bruksrelatert                                                                                     - Bruksområde                                                                                    - Bruksmåte: - frekvens (hyppighet) – sekvens (rekkefølge)</a:t>
            </a:r>
            <a:endParaRPr lang="en-GB" altLang="en-US" sz="1400">
              <a:solidFill>
                <a:schemeClr val="accent2"/>
              </a:solidFill>
            </a:endParaRPr>
          </a:p>
        </p:txBody>
      </p:sp>
      <p:sp>
        <p:nvSpPr>
          <p:cNvPr id="105487" name="Text Box 37">
            <a:extLst>
              <a:ext uri="{FF2B5EF4-FFF2-40B4-BE49-F238E27FC236}">
                <a16:creationId xmlns:a16="http://schemas.microsoft.com/office/drawing/2014/main" id="{21356463-C9C7-F774-A765-78C56EAFE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617914"/>
            <a:ext cx="2819400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</a:rPr>
              <a:t>- Prinsippiell / teknisk virkemåte                                                        - Teknologivalg                                                                                   - Komponentvalg                                                                                - Produksjonstilpasning</a:t>
            </a:r>
            <a:endParaRPr lang="en-GB" altLang="en-US" sz="1400">
              <a:solidFill>
                <a:schemeClr val="accent2"/>
              </a:solidFill>
            </a:endParaRPr>
          </a:p>
        </p:txBody>
      </p:sp>
      <p:sp>
        <p:nvSpPr>
          <p:cNvPr id="105488" name="Text Box 38">
            <a:extLst>
              <a:ext uri="{FF2B5EF4-FFF2-40B4-BE49-F238E27FC236}">
                <a16:creationId xmlns:a16="http://schemas.microsoft.com/office/drawing/2014/main" id="{85032B95-002D-757F-62EF-6CCE52757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9" y="4572000"/>
            <a:ext cx="2414587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</a:rPr>
              <a:t>- Utviklingskostnad                                                                             - Utsalgspris </a:t>
            </a:r>
            <a:endParaRPr lang="en-GB" altLang="en-US" sz="1400">
              <a:solidFill>
                <a:schemeClr val="accent2"/>
              </a:solidFill>
            </a:endParaRPr>
          </a:p>
        </p:txBody>
      </p:sp>
      <p:sp>
        <p:nvSpPr>
          <p:cNvPr id="105489" name="AutoShape 43">
            <a:extLst>
              <a:ext uri="{FF2B5EF4-FFF2-40B4-BE49-F238E27FC236}">
                <a16:creationId xmlns:a16="http://schemas.microsoft.com/office/drawing/2014/main" id="{DE72D69D-1D5D-201B-4A86-06E0552B8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5319713"/>
            <a:ext cx="2895600" cy="381000"/>
          </a:xfrm>
          <a:prstGeom prst="homePlate">
            <a:avLst>
              <a:gd name="adj" fmla="val 190000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5490" name="Text Box 23">
            <a:extLst>
              <a:ext uri="{FF2B5EF4-FFF2-40B4-BE49-F238E27FC236}">
                <a16:creationId xmlns:a16="http://schemas.microsoft.com/office/drawing/2014/main" id="{F19BA0D6-33A2-A7E8-C3AA-4AC83D6DE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214" y="5308601"/>
            <a:ext cx="2676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800">
                <a:solidFill>
                  <a:schemeClr val="accent2"/>
                </a:solidFill>
                <a:latin typeface="Aptos" panose="020B0004020202020204" pitchFamily="34" charset="0"/>
              </a:rPr>
              <a:t>Bærekraftsmessige</a:t>
            </a:r>
            <a:r>
              <a:rPr lang="nb-NO" altLang="en-US" sz="1800" u="sng">
                <a:solidFill>
                  <a:schemeClr val="accent2"/>
                </a:solidFill>
              </a:rPr>
              <a:t> </a:t>
            </a:r>
            <a:endParaRPr lang="en-GB" altLang="en-US" sz="1800" u="sng">
              <a:solidFill>
                <a:schemeClr val="accent2"/>
              </a:solidFill>
            </a:endParaRPr>
          </a:p>
        </p:txBody>
      </p:sp>
      <p:sp>
        <p:nvSpPr>
          <p:cNvPr id="105491" name="Text Box 38">
            <a:extLst>
              <a:ext uri="{FF2B5EF4-FFF2-40B4-BE49-F238E27FC236}">
                <a16:creationId xmlns:a16="http://schemas.microsoft.com/office/drawing/2014/main" id="{8198BB24-956D-226C-7A4E-1828BF4EA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335589"/>
            <a:ext cx="24145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</a:rPr>
              <a:t>- Miljømessige forhold                                                                             - Sosiale forhold </a:t>
            </a:r>
            <a:endParaRPr lang="en-GB" altLang="en-US" sz="1400">
              <a:solidFill>
                <a:schemeClr val="accent2"/>
              </a:solidFill>
            </a:endParaRPr>
          </a:p>
        </p:txBody>
      </p:sp>
      <p:sp>
        <p:nvSpPr>
          <p:cNvPr id="105492" name="Text Box 38">
            <a:extLst>
              <a:ext uri="{FF2B5EF4-FFF2-40B4-BE49-F238E27FC236}">
                <a16:creationId xmlns:a16="http://schemas.microsoft.com/office/drawing/2014/main" id="{90BBAABF-275C-0B43-71D6-38372C73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770564"/>
            <a:ext cx="2414588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</a:rPr>
              <a:t>- Økonomiske forhold </a:t>
            </a:r>
            <a:endParaRPr lang="en-GB" altLang="en-US" sz="1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4">
            <a:extLst>
              <a:ext uri="{FF2B5EF4-FFF2-40B4-BE49-F238E27FC236}">
                <a16:creationId xmlns:a16="http://schemas.microsoft.com/office/drawing/2014/main" id="{EABEA494-39F3-7FF1-2797-3B12E557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107523" name="Slide Number Placeholder 5">
            <a:extLst>
              <a:ext uri="{FF2B5EF4-FFF2-40B4-BE49-F238E27FC236}">
                <a16:creationId xmlns:a16="http://schemas.microsoft.com/office/drawing/2014/main" id="{A477EE7E-5645-0615-533E-212B93CF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6DEF59-FCDE-48A4-ACB5-676E0EB5279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id="{526F8833-AFDF-6DFB-5899-626C1A877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>
                <a:latin typeface="Aptos" panose="020B0004020202020204" pitchFamily="34" charset="0"/>
              </a:rPr>
              <a:t>Kravspesifikasjon</a:t>
            </a:r>
            <a:endParaRPr lang="en-GB" altLang="en-US" sz="2800" b="1" i="1">
              <a:latin typeface="Aptos" panose="020B0004020202020204" pitchFamily="34" charset="0"/>
            </a:endParaRPr>
          </a:p>
        </p:txBody>
      </p:sp>
      <p:sp>
        <p:nvSpPr>
          <p:cNvPr id="107525" name="Rectangle 3">
            <a:extLst>
              <a:ext uri="{FF2B5EF4-FFF2-40B4-BE49-F238E27FC236}">
                <a16:creationId xmlns:a16="http://schemas.microsoft.com/office/drawing/2014/main" id="{BB80967F-E6D0-1BEB-D4AF-788B23069A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0668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altLang="en-US">
                <a:cs typeface="Times New Roman" panose="02020603050405020304" pitchFamily="18" charset="0"/>
              </a:rPr>
              <a:t>   </a:t>
            </a:r>
            <a:r>
              <a:rPr lang="nb-NO" altLang="en-US" sz="2000">
                <a:latin typeface="Aptos" panose="020B0004020202020204" pitchFamily="34" charset="0"/>
                <a:cs typeface="Times New Roman" panose="02020603050405020304" pitchFamily="18" charset="0"/>
              </a:rPr>
              <a:t>Tematisk opplisting:</a:t>
            </a:r>
            <a:endParaRPr lang="en-GB" altLang="en-US" sz="200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526" name="Text Box 6">
            <a:extLst>
              <a:ext uri="{FF2B5EF4-FFF2-40B4-BE49-F238E27FC236}">
                <a16:creationId xmlns:a16="http://schemas.microsoft.com/office/drawing/2014/main" id="{C0DE7E0A-7F7A-C942-8D6B-3C6DB7E71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828800"/>
            <a:ext cx="25733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000" u="sng">
                <a:solidFill>
                  <a:schemeClr val="accent2"/>
                </a:solidFill>
                <a:latin typeface="Aptos" panose="020B0004020202020204" pitchFamily="34" charset="0"/>
              </a:rPr>
              <a:t>Estetiske/semantiske</a:t>
            </a:r>
            <a:endParaRPr lang="en-GB" altLang="en-US" sz="2000" u="sng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7527" name="Text Box 7">
            <a:extLst>
              <a:ext uri="{FF2B5EF4-FFF2-40B4-BE49-F238E27FC236}">
                <a16:creationId xmlns:a16="http://schemas.microsoft.com/office/drawing/2014/main" id="{26BABD5F-1A9A-F92E-5E04-1BA79B5DC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2689225"/>
            <a:ext cx="32940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000" u="sng">
                <a:solidFill>
                  <a:schemeClr val="accent2"/>
                </a:solidFill>
                <a:latin typeface="Aptos" panose="020B0004020202020204" pitchFamily="34" charset="0"/>
              </a:rPr>
              <a:t>Ergonomiske/funksjonelle</a:t>
            </a:r>
            <a:endParaRPr lang="en-GB" altLang="en-US" sz="2000" u="sng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7528" name="Text Box 11">
            <a:extLst>
              <a:ext uri="{FF2B5EF4-FFF2-40B4-BE49-F238E27FC236}">
                <a16:creationId xmlns:a16="http://schemas.microsoft.com/office/drawing/2014/main" id="{F92FD772-31A2-380C-B618-E965E7DBB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519488"/>
            <a:ext cx="2286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000" u="sng">
                <a:solidFill>
                  <a:schemeClr val="accent2"/>
                </a:solidFill>
                <a:latin typeface="Aptos" panose="020B0004020202020204" pitchFamily="34" charset="0"/>
              </a:rPr>
              <a:t>Tekniske</a:t>
            </a:r>
            <a:endParaRPr lang="en-GB" altLang="en-US" sz="2000" u="sng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7529" name="Text Box 13">
            <a:extLst>
              <a:ext uri="{FF2B5EF4-FFF2-40B4-BE49-F238E27FC236}">
                <a16:creationId xmlns:a16="http://schemas.microsoft.com/office/drawing/2014/main" id="{79D6410F-05CB-4AD3-A5CB-8C4E382ED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1905000"/>
            <a:ext cx="3048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1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30" name="Text Box 14">
            <a:extLst>
              <a:ext uri="{FF2B5EF4-FFF2-40B4-BE49-F238E27FC236}">
                <a16:creationId xmlns:a16="http://schemas.microsoft.com/office/drawing/2014/main" id="{0B7F9436-07F2-9B3D-9384-0311DA7A6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120901"/>
            <a:ext cx="381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2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31" name="Line 15">
            <a:extLst>
              <a:ext uri="{FF2B5EF4-FFF2-40B4-BE49-F238E27FC236}">
                <a16:creationId xmlns:a16="http://schemas.microsoft.com/office/drawing/2014/main" id="{AA69CBFF-C640-6A11-0658-DDA9751C76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2120900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32" name="Line 16">
            <a:extLst>
              <a:ext uri="{FF2B5EF4-FFF2-40B4-BE49-F238E27FC236}">
                <a16:creationId xmlns:a16="http://schemas.microsoft.com/office/drawing/2014/main" id="{DED1B37A-ECF3-247E-F6A3-D37DE1ACBE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2344738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33" name="Line 17">
            <a:extLst>
              <a:ext uri="{FF2B5EF4-FFF2-40B4-BE49-F238E27FC236}">
                <a16:creationId xmlns:a16="http://schemas.microsoft.com/office/drawing/2014/main" id="{47563CDF-44F9-DE06-59DD-95C3BF90D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2565400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34" name="Text Box 18">
            <a:extLst>
              <a:ext uri="{FF2B5EF4-FFF2-40B4-BE49-F238E27FC236}">
                <a16:creationId xmlns:a16="http://schemas.microsoft.com/office/drawing/2014/main" id="{C52241B3-2EE2-9EFF-E028-5D28AADB4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344739"/>
            <a:ext cx="381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1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35" name="Line 19">
            <a:extLst>
              <a:ext uri="{FF2B5EF4-FFF2-40B4-BE49-F238E27FC236}">
                <a16:creationId xmlns:a16="http://schemas.microsoft.com/office/drawing/2014/main" id="{3BAFA7C6-D609-B9A5-3A4C-9DD5D22074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2971800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36" name="Line 20">
            <a:extLst>
              <a:ext uri="{FF2B5EF4-FFF2-40B4-BE49-F238E27FC236}">
                <a16:creationId xmlns:a16="http://schemas.microsoft.com/office/drawing/2014/main" id="{8C3DE418-1DB5-BF5A-A253-D27C436B3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3192463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37" name="Line 21">
            <a:extLst>
              <a:ext uri="{FF2B5EF4-FFF2-40B4-BE49-F238E27FC236}">
                <a16:creationId xmlns:a16="http://schemas.microsoft.com/office/drawing/2014/main" id="{ED479275-A6D1-8F46-6200-5E65B0CA1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3414713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38" name="Line 22">
            <a:extLst>
              <a:ext uri="{FF2B5EF4-FFF2-40B4-BE49-F238E27FC236}">
                <a16:creationId xmlns:a16="http://schemas.microsoft.com/office/drawing/2014/main" id="{BFEEE1B0-ABF3-3366-0809-CCECAFE07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3808413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39" name="Text Box 23">
            <a:extLst>
              <a:ext uri="{FF2B5EF4-FFF2-40B4-BE49-F238E27FC236}">
                <a16:creationId xmlns:a16="http://schemas.microsoft.com/office/drawing/2014/main" id="{CEBD88CB-883D-6DE7-829D-AC29BB95A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763839"/>
            <a:ext cx="381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3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40" name="Text Box 24">
            <a:extLst>
              <a:ext uri="{FF2B5EF4-FFF2-40B4-BE49-F238E27FC236}">
                <a16:creationId xmlns:a16="http://schemas.microsoft.com/office/drawing/2014/main" id="{8FC3B39B-E9A5-05D0-85C8-EEE89B7BF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971800"/>
            <a:ext cx="3810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2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41" name="Text Box 25">
            <a:extLst>
              <a:ext uri="{FF2B5EF4-FFF2-40B4-BE49-F238E27FC236}">
                <a16:creationId xmlns:a16="http://schemas.microsoft.com/office/drawing/2014/main" id="{C0005970-42CB-04D0-C2CC-0B5260DB2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182939"/>
            <a:ext cx="381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2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42" name="Text Box 26">
            <a:extLst>
              <a:ext uri="{FF2B5EF4-FFF2-40B4-BE49-F238E27FC236}">
                <a16:creationId xmlns:a16="http://schemas.microsoft.com/office/drawing/2014/main" id="{21F66B55-FE89-7A4C-7614-0874AC373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1223963"/>
            <a:ext cx="1600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000">
                <a:latin typeface="Aptos" panose="020B0004020202020204" pitchFamily="34" charset="0"/>
              </a:rPr>
              <a:t>Karakter:</a:t>
            </a:r>
            <a:endParaRPr lang="en-GB" altLang="en-US" sz="2000">
              <a:latin typeface="Aptos" panose="020B0004020202020204" pitchFamily="34" charset="0"/>
            </a:endParaRPr>
          </a:p>
        </p:txBody>
      </p:sp>
      <p:sp>
        <p:nvSpPr>
          <p:cNvPr id="107543" name="Line 27">
            <a:extLst>
              <a:ext uri="{FF2B5EF4-FFF2-40B4-BE49-F238E27FC236}">
                <a16:creationId xmlns:a16="http://schemas.microsoft.com/office/drawing/2014/main" id="{FBB98A39-6F70-0171-672F-811A27D8A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4049713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44" name="Line 28">
            <a:extLst>
              <a:ext uri="{FF2B5EF4-FFF2-40B4-BE49-F238E27FC236}">
                <a16:creationId xmlns:a16="http://schemas.microsoft.com/office/drawing/2014/main" id="{9CCC51B1-A8E0-0DB1-D36A-8CE1D2915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4292600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45" name="Text Box 29">
            <a:extLst>
              <a:ext uri="{FF2B5EF4-FFF2-40B4-BE49-F238E27FC236}">
                <a16:creationId xmlns:a16="http://schemas.microsoft.com/office/drawing/2014/main" id="{60901976-66CC-E82C-BEE0-AB7BF4268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4387850"/>
            <a:ext cx="2743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000" u="sng">
                <a:solidFill>
                  <a:schemeClr val="accent2"/>
                </a:solidFill>
                <a:latin typeface="Aptos" panose="020B0004020202020204" pitchFamily="34" charset="0"/>
              </a:rPr>
              <a:t>Markedsøkonomiske</a:t>
            </a:r>
            <a:endParaRPr lang="en-GB" altLang="en-US" sz="2000" u="sng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7546" name="Line 30">
            <a:extLst>
              <a:ext uri="{FF2B5EF4-FFF2-40B4-BE49-F238E27FC236}">
                <a16:creationId xmlns:a16="http://schemas.microsoft.com/office/drawing/2014/main" id="{2743D337-2C91-61D8-C2F7-99D0D763F0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4657725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47" name="Line 31">
            <a:extLst>
              <a:ext uri="{FF2B5EF4-FFF2-40B4-BE49-F238E27FC236}">
                <a16:creationId xmlns:a16="http://schemas.microsoft.com/office/drawing/2014/main" id="{E4038A55-FF36-E139-B9CF-23CB1C472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4868863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48" name="Line 32">
            <a:extLst>
              <a:ext uri="{FF2B5EF4-FFF2-40B4-BE49-F238E27FC236}">
                <a16:creationId xmlns:a16="http://schemas.microsoft.com/office/drawing/2014/main" id="{E9F58BE3-E9EB-C867-D3C9-55CDE4645B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5084763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49" name="Text Box 33">
            <a:extLst>
              <a:ext uri="{FF2B5EF4-FFF2-40B4-BE49-F238E27FC236}">
                <a16:creationId xmlns:a16="http://schemas.microsoft.com/office/drawing/2014/main" id="{81D495D2-DF1D-B832-C581-78C02A124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548064"/>
            <a:ext cx="3810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1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50" name="Text Box 34">
            <a:extLst>
              <a:ext uri="{FF2B5EF4-FFF2-40B4-BE49-F238E27FC236}">
                <a16:creationId xmlns:a16="http://schemas.microsoft.com/office/drawing/2014/main" id="{118A379F-6F48-0FB1-8F74-02BC9F469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808414"/>
            <a:ext cx="3810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3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51" name="Text Box 35">
            <a:extLst>
              <a:ext uri="{FF2B5EF4-FFF2-40B4-BE49-F238E27FC236}">
                <a16:creationId xmlns:a16="http://schemas.microsoft.com/office/drawing/2014/main" id="{EC54AD50-C8E1-AB0E-666A-503334CFD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4049714"/>
            <a:ext cx="3810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2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52" name="Text Box 36">
            <a:extLst>
              <a:ext uri="{FF2B5EF4-FFF2-40B4-BE49-F238E27FC236}">
                <a16:creationId xmlns:a16="http://schemas.microsoft.com/office/drawing/2014/main" id="{94B3B50E-94D6-1FE0-A8B7-7665027B4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4437064"/>
            <a:ext cx="3810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2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53" name="Text Box 37">
            <a:extLst>
              <a:ext uri="{FF2B5EF4-FFF2-40B4-BE49-F238E27FC236}">
                <a16:creationId xmlns:a16="http://schemas.microsoft.com/office/drawing/2014/main" id="{598719E5-0623-85BD-2579-6439BEC6E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950" y="4656139"/>
            <a:ext cx="3810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3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54" name="Text Box 38">
            <a:extLst>
              <a:ext uri="{FF2B5EF4-FFF2-40B4-BE49-F238E27FC236}">
                <a16:creationId xmlns:a16="http://schemas.microsoft.com/office/drawing/2014/main" id="{45DE6CEB-348C-34A6-3D28-2C39F6E22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4873626"/>
            <a:ext cx="381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1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55" name="Line 39">
            <a:extLst>
              <a:ext uri="{FF2B5EF4-FFF2-40B4-BE49-F238E27FC236}">
                <a16:creationId xmlns:a16="http://schemas.microsoft.com/office/drawing/2014/main" id="{C2E14392-C487-8859-8C4F-367957AB3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600200"/>
            <a:ext cx="678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56" name="AutoShape 40">
            <a:extLst>
              <a:ext uri="{FF2B5EF4-FFF2-40B4-BE49-F238E27FC236}">
                <a16:creationId xmlns:a16="http://schemas.microsoft.com/office/drawing/2014/main" id="{E30469CE-2187-091C-E4FE-FCCFB3428EF2}"/>
              </a:ext>
            </a:extLst>
          </p:cNvPr>
          <p:cNvSpPr>
            <a:spLocks noChangeArrowheads="1"/>
          </p:cNvSpPr>
          <p:nvPr/>
        </p:nvSpPr>
        <p:spPr bwMode="auto">
          <a:xfrm rot="16200000" flipH="1" flipV="1">
            <a:off x="8153400" y="3810000"/>
            <a:ext cx="3009900" cy="419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7557" name="Text Box 11">
            <a:extLst>
              <a:ext uri="{FF2B5EF4-FFF2-40B4-BE49-F238E27FC236}">
                <a16:creationId xmlns:a16="http://schemas.microsoft.com/office/drawing/2014/main" id="{C02C2247-F33E-4A57-5FC2-E0E090495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175" y="5243513"/>
            <a:ext cx="24003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000" u="sng">
                <a:solidFill>
                  <a:schemeClr val="accent2"/>
                </a:solidFill>
                <a:latin typeface="Aptos" panose="020B0004020202020204" pitchFamily="34" charset="0"/>
              </a:rPr>
              <a:t>Bærekraftsmessige</a:t>
            </a:r>
            <a:endParaRPr lang="en-GB" altLang="en-US" sz="2000" u="sng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7558" name="Line 32">
            <a:extLst>
              <a:ext uri="{FF2B5EF4-FFF2-40B4-BE49-F238E27FC236}">
                <a16:creationId xmlns:a16="http://schemas.microsoft.com/office/drawing/2014/main" id="{6F011FAB-A7E9-E44B-F4C5-4A8265A17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5524500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59" name="Line 32">
            <a:extLst>
              <a:ext uri="{FF2B5EF4-FFF2-40B4-BE49-F238E27FC236}">
                <a16:creationId xmlns:a16="http://schemas.microsoft.com/office/drawing/2014/main" id="{684E6C07-91EE-CB85-2CE0-2C793BD13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5732463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60" name="Line 32">
            <a:extLst>
              <a:ext uri="{FF2B5EF4-FFF2-40B4-BE49-F238E27FC236}">
                <a16:creationId xmlns:a16="http://schemas.microsoft.com/office/drawing/2014/main" id="{5D9BAE5A-B7DB-3D2B-3BBC-87C2A2CA7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5949950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07561" name="Text Box 38">
            <a:extLst>
              <a:ext uri="{FF2B5EF4-FFF2-40B4-BE49-F238E27FC236}">
                <a16:creationId xmlns:a16="http://schemas.microsoft.com/office/drawing/2014/main" id="{FAF03B7F-342D-516E-FC7A-497835D3D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200" y="5499100"/>
            <a:ext cx="3810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1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62" name="Text Box 37">
            <a:extLst>
              <a:ext uri="{FF2B5EF4-FFF2-40B4-BE49-F238E27FC236}">
                <a16:creationId xmlns:a16="http://schemas.microsoft.com/office/drawing/2014/main" id="{587E1B3F-9ABC-CA03-7DA7-0CE5D82FD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200" y="5284789"/>
            <a:ext cx="381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3</a:t>
            </a:r>
            <a:endParaRPr lang="en-GB" altLang="en-US" sz="1600">
              <a:solidFill>
                <a:schemeClr val="accent2"/>
              </a:solidFill>
            </a:endParaRPr>
          </a:p>
        </p:txBody>
      </p:sp>
      <p:sp>
        <p:nvSpPr>
          <p:cNvPr id="107563" name="Text Box 25">
            <a:extLst>
              <a:ext uri="{FF2B5EF4-FFF2-40B4-BE49-F238E27FC236}">
                <a16:creationId xmlns:a16="http://schemas.microsoft.com/office/drawing/2014/main" id="{93333900-AC6F-3D50-8B4F-B3ACCE55F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200" y="5732464"/>
            <a:ext cx="381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600">
                <a:solidFill>
                  <a:schemeClr val="accent2"/>
                </a:solidFill>
              </a:rPr>
              <a:t>2</a:t>
            </a:r>
            <a:endParaRPr lang="en-GB" altLang="en-US"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4">
            <a:extLst>
              <a:ext uri="{FF2B5EF4-FFF2-40B4-BE49-F238E27FC236}">
                <a16:creationId xmlns:a16="http://schemas.microsoft.com/office/drawing/2014/main" id="{6217CC03-01D1-343E-CE63-53EED0EE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109571" name="Slide Number Placeholder 5">
            <a:extLst>
              <a:ext uri="{FF2B5EF4-FFF2-40B4-BE49-F238E27FC236}">
                <a16:creationId xmlns:a16="http://schemas.microsoft.com/office/drawing/2014/main" id="{A8BE0C40-780D-9B9A-757F-0C185AA0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C65078-C663-41FB-88B8-1971E3C9A69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09572" name="Rectangle 2">
            <a:extLst>
              <a:ext uri="{FF2B5EF4-FFF2-40B4-BE49-F238E27FC236}">
                <a16:creationId xmlns:a16="http://schemas.microsoft.com/office/drawing/2014/main" id="{C4CB6609-7BF8-1480-6DBD-908C8BAF3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 dirty="0">
                <a:latin typeface="Aptos" panose="020B0004020202020204" pitchFamily="34" charset="0"/>
              </a:rPr>
              <a:t>   Kravspesifikasjon</a:t>
            </a:r>
            <a:endParaRPr lang="en-GB" altLang="en-US" sz="2800" b="1" i="1" dirty="0">
              <a:latin typeface="Aptos" panose="020B0004020202020204" pitchFamily="34" charset="0"/>
            </a:endParaRPr>
          </a:p>
        </p:txBody>
      </p:sp>
      <p:sp>
        <p:nvSpPr>
          <p:cNvPr id="109573" name="Rectangle 3">
            <a:extLst>
              <a:ext uri="{FF2B5EF4-FFF2-40B4-BE49-F238E27FC236}">
                <a16:creationId xmlns:a16="http://schemas.microsoft.com/office/drawing/2014/main" id="{53D4034D-1CDB-55D2-7982-AC7B27C6D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0668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altLang="en-US">
                <a:latin typeface="Aptos" panose="020B0004020202020204" pitchFamily="34" charset="0"/>
                <a:cs typeface="Times New Roman" panose="02020603050405020304" pitchFamily="18" charset="0"/>
              </a:rPr>
              <a:t>   </a:t>
            </a:r>
            <a:r>
              <a:rPr lang="nb-NO" altLang="en-US" sz="2400">
                <a:latin typeface="Aptos" panose="020B0004020202020204" pitchFamily="34" charset="0"/>
                <a:cs typeface="Times New Roman" panose="02020603050405020304" pitchFamily="18" charset="0"/>
              </a:rPr>
              <a:t>For å kunne bruke kravene som styringsverktøy, må kravene systematiseres, dvs. rangeres etter viktighet.</a:t>
            </a:r>
            <a:endParaRPr lang="en-GB" altLang="en-US" sz="240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9574" name="Text Box 4">
            <a:extLst>
              <a:ext uri="{FF2B5EF4-FFF2-40B4-BE49-F238E27FC236}">
                <a16:creationId xmlns:a16="http://schemas.microsoft.com/office/drawing/2014/main" id="{20266F24-6C3D-289D-9450-26405D501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2492376"/>
            <a:ext cx="75438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nb-NO" altLang="en-US" sz="2400" dirty="0">
                <a:solidFill>
                  <a:schemeClr val="accent2"/>
                </a:solidFill>
                <a:latin typeface="Aptos" panose="020B0004020202020204" pitchFamily="34" charset="0"/>
              </a:rPr>
              <a:t>1. Skal-krav (må være tilfredsstilt). </a:t>
            </a:r>
            <a:r>
              <a:rPr lang="nb-NO" altLang="en-US" sz="1800" dirty="0">
                <a:solidFill>
                  <a:schemeClr val="accent2"/>
                </a:solidFill>
                <a:latin typeface="Aptos" panose="020B0004020202020204" pitchFamily="34" charset="0"/>
              </a:rPr>
              <a:t>Representer 					      primærfunksjonen i produktet</a:t>
            </a:r>
            <a:endParaRPr lang="en-GB" altLang="en-US" sz="1800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9575" name="Text Box 5">
            <a:extLst>
              <a:ext uri="{FF2B5EF4-FFF2-40B4-BE49-F238E27FC236}">
                <a16:creationId xmlns:a16="http://schemas.microsoft.com/office/drawing/2014/main" id="{A0589D25-322A-F808-6E4F-D9D930D70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3417889"/>
            <a:ext cx="7239000" cy="73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accent2"/>
                </a:solidFill>
                <a:latin typeface="Aptos" panose="020B0004020202020204" pitchFamily="34" charset="0"/>
              </a:rPr>
              <a:t>2. Bør-krav (bør være tilfredsstilt). </a:t>
            </a:r>
            <a:r>
              <a:rPr lang="nb-NO" altLang="en-US" sz="1800">
                <a:solidFill>
                  <a:schemeClr val="accent2"/>
                </a:solidFill>
                <a:latin typeface="Aptos" panose="020B0004020202020204" pitchFamily="34" charset="0"/>
              </a:rPr>
              <a:t>Representerer 		  	                 sekundærfunksjonene i produktet</a:t>
            </a:r>
            <a:endParaRPr lang="en-GB" altLang="en-US" sz="18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9576" name="Text Box 6">
            <a:extLst>
              <a:ext uri="{FF2B5EF4-FFF2-40B4-BE49-F238E27FC236}">
                <a16:creationId xmlns:a16="http://schemas.microsoft.com/office/drawing/2014/main" id="{09A817BC-9303-C728-AB2E-C18260CE6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5" y="4298950"/>
            <a:ext cx="74676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accent2"/>
                </a:solidFill>
                <a:latin typeface="Aptos" panose="020B0004020202020204" pitchFamily="34" charset="0"/>
              </a:rPr>
              <a:t>3. Kan-krav (kan være tilfredsstilt). </a:t>
            </a:r>
            <a:r>
              <a:rPr lang="nb-NO" altLang="en-US" sz="1800">
                <a:solidFill>
                  <a:schemeClr val="accent2"/>
                </a:solidFill>
                <a:latin typeface="Aptos" panose="020B0004020202020204" pitchFamily="34" charset="0"/>
              </a:rPr>
              <a:t>Representerer 		            		        ønskelige produktegenskaper</a:t>
            </a:r>
            <a:endParaRPr lang="en-GB" altLang="en-US" sz="18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4">
            <a:extLst>
              <a:ext uri="{FF2B5EF4-FFF2-40B4-BE49-F238E27FC236}">
                <a16:creationId xmlns:a16="http://schemas.microsoft.com/office/drawing/2014/main" id="{13F7B637-6E23-51F6-535A-39852B6A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111619" name="Slide Number Placeholder 5">
            <a:extLst>
              <a:ext uri="{FF2B5EF4-FFF2-40B4-BE49-F238E27FC236}">
                <a16:creationId xmlns:a16="http://schemas.microsoft.com/office/drawing/2014/main" id="{91EB9634-AC05-1457-98DC-A8E51BBB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04592A-A4B4-4E39-868C-9783CC1D367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11620" name="Rectangle 2">
            <a:extLst>
              <a:ext uri="{FF2B5EF4-FFF2-40B4-BE49-F238E27FC236}">
                <a16:creationId xmlns:a16="http://schemas.microsoft.com/office/drawing/2014/main" id="{1E6CB440-3693-D260-8584-CF03B69F5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>
                <a:latin typeface="Aptos" panose="020B0004020202020204" pitchFamily="34" charset="0"/>
              </a:rPr>
              <a:t>Kravspesifikasjon</a:t>
            </a:r>
            <a:endParaRPr lang="en-GB" altLang="en-US" sz="2800" b="1" i="1">
              <a:latin typeface="Aptos" panose="020B0004020202020204" pitchFamily="34" charset="0"/>
            </a:endParaRPr>
          </a:p>
        </p:txBody>
      </p:sp>
      <p:sp>
        <p:nvSpPr>
          <p:cNvPr id="111621" name="Rectangle 3">
            <a:extLst>
              <a:ext uri="{FF2B5EF4-FFF2-40B4-BE49-F238E27FC236}">
                <a16:creationId xmlns:a16="http://schemas.microsoft.com/office/drawing/2014/main" id="{23DA9E7C-8EAD-4D70-7DF8-753F0E59C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835025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altLang="en-US">
                <a:cs typeface="Times New Roman" panose="02020603050405020304" pitchFamily="18" charset="0"/>
              </a:rPr>
              <a:t>   </a:t>
            </a:r>
            <a:r>
              <a:rPr lang="nb-NO" altLang="en-US" sz="2000">
                <a:latin typeface="Aptos" panose="020B0004020202020204" pitchFamily="34" charset="0"/>
                <a:cs typeface="Times New Roman" panose="02020603050405020304" pitchFamily="18" charset="0"/>
              </a:rPr>
              <a:t>Prioritert krav-matrise:</a:t>
            </a:r>
            <a:endParaRPr lang="en-GB" altLang="en-US" sz="200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1622" name="Text Box 4">
            <a:extLst>
              <a:ext uri="{FF2B5EF4-FFF2-40B4-BE49-F238E27FC236}">
                <a16:creationId xmlns:a16="http://schemas.microsoft.com/office/drawing/2014/main" id="{796D72C9-69AD-640B-8E98-F494A150B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44462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accent2"/>
                </a:solidFill>
                <a:latin typeface="Aptos" panose="020B0004020202020204" pitchFamily="34" charset="0"/>
              </a:rPr>
              <a:t>1. Skal-krav</a:t>
            </a:r>
            <a:endParaRPr lang="en-GB" altLang="en-US" sz="2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23" name="Text Box 5">
            <a:extLst>
              <a:ext uri="{FF2B5EF4-FFF2-40B4-BE49-F238E27FC236}">
                <a16:creationId xmlns:a16="http://schemas.microsoft.com/office/drawing/2014/main" id="{3189FB34-E3A6-BF13-E097-5CF832AAE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27940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accent2"/>
                </a:solidFill>
                <a:latin typeface="Aptos" panose="020B0004020202020204" pitchFamily="34" charset="0"/>
              </a:rPr>
              <a:t>2. Bør-krav</a:t>
            </a:r>
            <a:endParaRPr lang="en-GB" altLang="en-US" sz="2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24" name="Text Box 6">
            <a:extLst>
              <a:ext uri="{FF2B5EF4-FFF2-40B4-BE49-F238E27FC236}">
                <a16:creationId xmlns:a16="http://schemas.microsoft.com/office/drawing/2014/main" id="{1EE871C2-7FA2-3070-B279-0F8DB9F0D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8" y="411162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>
                <a:solidFill>
                  <a:schemeClr val="accent2"/>
                </a:solidFill>
                <a:latin typeface="Aptos" panose="020B0004020202020204" pitchFamily="34" charset="0"/>
              </a:rPr>
              <a:t>3. Kan-krav</a:t>
            </a:r>
            <a:endParaRPr lang="en-GB" altLang="en-US" sz="2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25" name="Line 33">
            <a:extLst>
              <a:ext uri="{FF2B5EF4-FFF2-40B4-BE49-F238E27FC236}">
                <a16:creationId xmlns:a16="http://schemas.microsoft.com/office/drawing/2014/main" id="{810F0DCC-5F54-EEAF-3F3E-536689F1A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412875"/>
            <a:ext cx="518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1626" name="Line 34">
            <a:extLst>
              <a:ext uri="{FF2B5EF4-FFF2-40B4-BE49-F238E27FC236}">
                <a16:creationId xmlns:a16="http://schemas.microsoft.com/office/drawing/2014/main" id="{76FB6712-F322-7E26-AC62-AB9643A90B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7813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1627" name="Line 35">
            <a:extLst>
              <a:ext uri="{FF2B5EF4-FFF2-40B4-BE49-F238E27FC236}">
                <a16:creationId xmlns:a16="http://schemas.microsoft.com/office/drawing/2014/main" id="{E14B03AC-022F-BE94-799E-9003C3C80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0767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1628" name="Line 36">
            <a:extLst>
              <a:ext uri="{FF2B5EF4-FFF2-40B4-BE49-F238E27FC236}">
                <a16:creationId xmlns:a16="http://schemas.microsoft.com/office/drawing/2014/main" id="{18900D4E-DCD8-74E6-5001-1EBCF860E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1438" y="1412875"/>
            <a:ext cx="0" cy="434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1629" name="AutoShape 37">
            <a:extLst>
              <a:ext uri="{FF2B5EF4-FFF2-40B4-BE49-F238E27FC236}">
                <a16:creationId xmlns:a16="http://schemas.microsoft.com/office/drawing/2014/main" id="{F5C99056-C61A-5677-1D2B-E779E51CC198}"/>
              </a:ext>
            </a:extLst>
          </p:cNvPr>
          <p:cNvSpPr>
            <a:spLocks noChangeArrowheads="1"/>
          </p:cNvSpPr>
          <p:nvPr/>
        </p:nvSpPr>
        <p:spPr bwMode="auto">
          <a:xfrm rot="16200000" flipH="1" flipV="1">
            <a:off x="7332663" y="2968625"/>
            <a:ext cx="3009900" cy="419100"/>
          </a:xfrm>
          <a:prstGeom prst="triangle">
            <a:avLst>
              <a:gd name="adj" fmla="val 50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1630" name="Text Box 38">
            <a:extLst>
              <a:ext uri="{FF2B5EF4-FFF2-40B4-BE49-F238E27FC236}">
                <a16:creationId xmlns:a16="http://schemas.microsoft.com/office/drawing/2014/main" id="{FABD28E4-32DD-04F9-5CB3-AE85131B1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747839"/>
            <a:ext cx="29718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Ergonomiske/funksjonelle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31" name="Text Box 39">
            <a:extLst>
              <a:ext uri="{FF2B5EF4-FFF2-40B4-BE49-F238E27FC236}">
                <a16:creationId xmlns:a16="http://schemas.microsoft.com/office/drawing/2014/main" id="{4D9A5A66-A549-BCF3-F637-7220260BF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2835276"/>
            <a:ext cx="18542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Estetiske/semantiske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32" name="Text Box 40">
            <a:extLst>
              <a:ext uri="{FF2B5EF4-FFF2-40B4-BE49-F238E27FC236}">
                <a16:creationId xmlns:a16="http://schemas.microsoft.com/office/drawing/2014/main" id="{92D18E85-6C72-1F5D-9F62-8F808B33E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1" y="4117975"/>
            <a:ext cx="1978025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Estetiske/semantiske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33" name="Text Box 41">
            <a:extLst>
              <a:ext uri="{FF2B5EF4-FFF2-40B4-BE49-F238E27FC236}">
                <a16:creationId xmlns:a16="http://schemas.microsoft.com/office/drawing/2014/main" id="{6958C236-34F6-090D-9E1A-DF6548268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1" y="1525589"/>
            <a:ext cx="187801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Estetiske/semantiske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34" name="Text Box 42">
            <a:extLst>
              <a:ext uri="{FF2B5EF4-FFF2-40B4-BE49-F238E27FC236}">
                <a16:creationId xmlns:a16="http://schemas.microsoft.com/office/drawing/2014/main" id="{74FF8409-50F6-DF37-D55C-DFBE41893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3046414"/>
            <a:ext cx="33528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Ergonomiske/funksjonelle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35" name="Text Box 43">
            <a:extLst>
              <a:ext uri="{FF2B5EF4-FFF2-40B4-BE49-F238E27FC236}">
                <a16:creationId xmlns:a16="http://schemas.microsoft.com/office/drawing/2014/main" id="{540D2FBE-3B29-C9E2-9496-4E7CD2257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4354514"/>
            <a:ext cx="29718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Ergonomiske/funksjonelle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36" name="Text Box 44">
            <a:extLst>
              <a:ext uri="{FF2B5EF4-FFF2-40B4-BE49-F238E27FC236}">
                <a16:creationId xmlns:a16="http://schemas.microsoft.com/office/drawing/2014/main" id="{9D0DDF67-B6DA-03FF-6E78-8A340805C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971676"/>
            <a:ext cx="18415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Tekniske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37" name="Text Box 45">
            <a:extLst>
              <a:ext uri="{FF2B5EF4-FFF2-40B4-BE49-F238E27FC236}">
                <a16:creationId xmlns:a16="http://schemas.microsoft.com/office/drawing/2014/main" id="{A0291D05-ACE9-A3E3-88F5-75A88A731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3275014"/>
            <a:ext cx="18542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Tekniske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38" name="Text Box 46">
            <a:extLst>
              <a:ext uri="{FF2B5EF4-FFF2-40B4-BE49-F238E27FC236}">
                <a16:creationId xmlns:a16="http://schemas.microsoft.com/office/drawing/2014/main" id="{3F8BAC5D-752E-C663-DE61-54ED923FA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6" y="4575176"/>
            <a:ext cx="175736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Tekniske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39" name="Text Box 47">
            <a:extLst>
              <a:ext uri="{FF2B5EF4-FFF2-40B4-BE49-F238E27FC236}">
                <a16:creationId xmlns:a16="http://schemas.microsoft.com/office/drawing/2014/main" id="{58287097-D690-A030-8284-07C6A2274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4638" y="2408239"/>
            <a:ext cx="23622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Bærekraftsmessige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40" name="Text Box 48">
            <a:extLst>
              <a:ext uri="{FF2B5EF4-FFF2-40B4-BE49-F238E27FC236}">
                <a16:creationId xmlns:a16="http://schemas.microsoft.com/office/drawing/2014/main" id="{3EB8C5C5-B138-0D32-7011-2FE3613D4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3486151"/>
            <a:ext cx="23622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Markedsøkonomiske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41" name="Text Box 49">
            <a:extLst>
              <a:ext uri="{FF2B5EF4-FFF2-40B4-BE49-F238E27FC236}">
                <a16:creationId xmlns:a16="http://schemas.microsoft.com/office/drawing/2014/main" id="{DF6C620D-2385-F1A6-D7C0-896D06379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350" y="4794251"/>
            <a:ext cx="23622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Markedsøkonomiske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42" name="Text Box 48">
            <a:extLst>
              <a:ext uri="{FF2B5EF4-FFF2-40B4-BE49-F238E27FC236}">
                <a16:creationId xmlns:a16="http://schemas.microsoft.com/office/drawing/2014/main" id="{80C2B7F1-F48A-C4F5-E57D-5675E68AF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4638" y="2200276"/>
            <a:ext cx="23622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Markedsøkonomiske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43" name="Text Box 47">
            <a:extLst>
              <a:ext uri="{FF2B5EF4-FFF2-40B4-BE49-F238E27FC236}">
                <a16:creationId xmlns:a16="http://schemas.microsoft.com/office/drawing/2014/main" id="{68F46A61-1894-4868-B60E-668EB3A7E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988" y="3708401"/>
            <a:ext cx="23622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Bærekraftsmessige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1644" name="Text Box 47">
            <a:extLst>
              <a:ext uri="{FF2B5EF4-FFF2-40B4-BE49-F238E27FC236}">
                <a16:creationId xmlns:a16="http://schemas.microsoft.com/office/drawing/2014/main" id="{0D900D4E-0BDC-BE45-09EA-F64711252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5011739"/>
            <a:ext cx="236220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Bærekraftsmessige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4">
            <a:extLst>
              <a:ext uri="{FF2B5EF4-FFF2-40B4-BE49-F238E27FC236}">
                <a16:creationId xmlns:a16="http://schemas.microsoft.com/office/drawing/2014/main" id="{2A9A053D-A726-7F32-4236-FDD13014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113667" name="Slide Number Placeholder 5">
            <a:extLst>
              <a:ext uri="{FF2B5EF4-FFF2-40B4-BE49-F238E27FC236}">
                <a16:creationId xmlns:a16="http://schemas.microsoft.com/office/drawing/2014/main" id="{B622C5F4-9917-54B7-A0C7-2781363C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E70B1F-86B4-4D80-A233-053025DD229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314242F8-CA61-86F9-D7E0-EC87FE1F5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>
                <a:latin typeface="Aptos" panose="020B0004020202020204" pitchFamily="34" charset="0"/>
              </a:rPr>
              <a:t>Kravspesifikasjon</a:t>
            </a:r>
            <a:endParaRPr lang="en-GB" altLang="en-US" sz="2800" b="1" i="1">
              <a:latin typeface="Aptos" panose="020B0004020202020204" pitchFamily="34" charset="0"/>
            </a:endParaRPr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DFA088D9-3DDC-F1BD-528A-6C0209ECC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8382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altLang="en-US">
                <a:cs typeface="Times New Roman" panose="02020603050405020304" pitchFamily="18" charset="0"/>
              </a:rPr>
              <a:t>   </a:t>
            </a:r>
            <a:r>
              <a:rPr lang="nb-NO" altLang="en-US" sz="1800">
                <a:latin typeface="Aptos" panose="020B0004020202020204" pitchFamily="34" charset="0"/>
                <a:cs typeface="Times New Roman" panose="02020603050405020304" pitchFamily="18" charset="0"/>
              </a:rPr>
              <a:t>Matrise-modellen:</a:t>
            </a:r>
            <a:endParaRPr lang="en-GB" altLang="en-US" sz="180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3670" name="Text Box 4">
            <a:extLst>
              <a:ext uri="{FF2B5EF4-FFF2-40B4-BE49-F238E27FC236}">
                <a16:creationId xmlns:a16="http://schemas.microsoft.com/office/drawing/2014/main" id="{C348E50D-EA9C-D22B-29C2-6A92A1A84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019300"/>
            <a:ext cx="1981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000">
                <a:solidFill>
                  <a:schemeClr val="accent2"/>
                </a:solidFill>
                <a:latin typeface="Aptos" panose="020B0004020202020204" pitchFamily="34" charset="0"/>
              </a:rPr>
              <a:t>1. Skal-krav</a:t>
            </a:r>
            <a:endParaRPr lang="en-GB" altLang="en-US" sz="20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3671" name="Text Box 5">
            <a:extLst>
              <a:ext uri="{FF2B5EF4-FFF2-40B4-BE49-F238E27FC236}">
                <a16:creationId xmlns:a16="http://schemas.microsoft.com/office/drawing/2014/main" id="{424E6E45-A5A9-AE04-5045-1D4CFAF67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3613" y="3390900"/>
            <a:ext cx="1676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000">
                <a:solidFill>
                  <a:schemeClr val="accent2"/>
                </a:solidFill>
                <a:latin typeface="Aptos" panose="020B0004020202020204" pitchFamily="34" charset="0"/>
              </a:rPr>
              <a:t>2. Bør-krav</a:t>
            </a:r>
            <a:endParaRPr lang="en-GB" altLang="en-US" sz="20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3672" name="Text Box 6">
            <a:extLst>
              <a:ext uri="{FF2B5EF4-FFF2-40B4-BE49-F238E27FC236}">
                <a16:creationId xmlns:a16="http://schemas.microsoft.com/office/drawing/2014/main" id="{DC070999-756C-795A-7756-277F6C61A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200" y="4848225"/>
            <a:ext cx="2133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000">
                <a:solidFill>
                  <a:schemeClr val="accent2"/>
                </a:solidFill>
                <a:latin typeface="Aptos" panose="020B0004020202020204" pitchFamily="34" charset="0"/>
              </a:rPr>
              <a:t>3. Kan-krav</a:t>
            </a:r>
            <a:endParaRPr lang="en-GB" altLang="en-US" sz="20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3673" name="Line 7">
            <a:extLst>
              <a:ext uri="{FF2B5EF4-FFF2-40B4-BE49-F238E27FC236}">
                <a16:creationId xmlns:a16="http://schemas.microsoft.com/office/drawing/2014/main" id="{B925D877-9F82-845F-45C6-4E91932FD0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341438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74" name="Line 8">
            <a:extLst>
              <a:ext uri="{FF2B5EF4-FFF2-40B4-BE49-F238E27FC236}">
                <a16:creationId xmlns:a16="http://schemas.microsoft.com/office/drawing/2014/main" id="{2DDCCDB3-F2D6-52AF-ACC0-302FF57AC3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2766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75" name="Line 9">
            <a:extLst>
              <a:ext uri="{FF2B5EF4-FFF2-40B4-BE49-F238E27FC236}">
                <a16:creationId xmlns:a16="http://schemas.microsoft.com/office/drawing/2014/main" id="{28B3455D-F24D-6515-B213-C4CDEF97F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7244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76" name="Line 10">
            <a:extLst>
              <a:ext uri="{FF2B5EF4-FFF2-40B4-BE49-F238E27FC236}">
                <a16:creationId xmlns:a16="http://schemas.microsoft.com/office/drawing/2014/main" id="{BE5AA9B1-EB6E-5714-F971-C1C979FBD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1341438"/>
            <a:ext cx="0" cy="4754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77" name="Text Box 11">
            <a:extLst>
              <a:ext uri="{FF2B5EF4-FFF2-40B4-BE49-F238E27FC236}">
                <a16:creationId xmlns:a16="http://schemas.microsoft.com/office/drawing/2014/main" id="{1D3E8A2C-443F-5D2B-541F-2DF8E4EEE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539" y="1382714"/>
            <a:ext cx="12652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Ergonomiske/ funksjonelle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3678" name="Text Box 12">
            <a:extLst>
              <a:ext uri="{FF2B5EF4-FFF2-40B4-BE49-F238E27FC236}">
                <a16:creationId xmlns:a16="http://schemas.microsoft.com/office/drawing/2014/main" id="{1BA38FBA-7A70-9F0B-BF07-C7C198798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1" y="1393826"/>
            <a:ext cx="1160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Estetiske/ semantiske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3679" name="Text Box 13">
            <a:extLst>
              <a:ext uri="{FF2B5EF4-FFF2-40B4-BE49-F238E27FC236}">
                <a16:creationId xmlns:a16="http://schemas.microsoft.com/office/drawing/2014/main" id="{22E96375-CFA4-AA81-664D-552A59802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1" y="1524001"/>
            <a:ext cx="9620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Tekniske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3680" name="Text Box 14">
            <a:extLst>
              <a:ext uri="{FF2B5EF4-FFF2-40B4-BE49-F238E27FC236}">
                <a16:creationId xmlns:a16="http://schemas.microsoft.com/office/drawing/2014/main" id="{C72694B5-6741-6C9C-1B0A-312D9995A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513" y="1398589"/>
            <a:ext cx="12303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Markeds-økonomiske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13681" name="Line 15">
            <a:extLst>
              <a:ext uri="{FF2B5EF4-FFF2-40B4-BE49-F238E27FC236}">
                <a16:creationId xmlns:a16="http://schemas.microsoft.com/office/drawing/2014/main" id="{05C2B59B-62F4-A6F1-1559-F1AF7BA92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341438"/>
            <a:ext cx="0" cy="4754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82" name="Line 16">
            <a:extLst>
              <a:ext uri="{FF2B5EF4-FFF2-40B4-BE49-F238E27FC236}">
                <a16:creationId xmlns:a16="http://schemas.microsoft.com/office/drawing/2014/main" id="{1EFF8D77-F551-CEAB-5273-FC10C3C0B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6096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83" name="Line 17">
            <a:extLst>
              <a:ext uri="{FF2B5EF4-FFF2-40B4-BE49-F238E27FC236}">
                <a16:creationId xmlns:a16="http://schemas.microsoft.com/office/drawing/2014/main" id="{C83E681E-B1AB-39DA-899D-47092FC461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58400" y="1341438"/>
            <a:ext cx="0" cy="4754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84" name="Line 18">
            <a:extLst>
              <a:ext uri="{FF2B5EF4-FFF2-40B4-BE49-F238E27FC236}">
                <a16:creationId xmlns:a16="http://schemas.microsoft.com/office/drawing/2014/main" id="{B1D5D9B7-116B-7D4D-D085-5770B0926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905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85" name="Line 19">
            <a:extLst>
              <a:ext uri="{FF2B5EF4-FFF2-40B4-BE49-F238E27FC236}">
                <a16:creationId xmlns:a16="http://schemas.microsoft.com/office/drawing/2014/main" id="{88AA501C-1BDC-4CED-9C2E-75413C406A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75" y="1341438"/>
            <a:ext cx="0" cy="4754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86" name="Line 20">
            <a:extLst>
              <a:ext uri="{FF2B5EF4-FFF2-40B4-BE49-F238E27FC236}">
                <a16:creationId xmlns:a16="http://schemas.microsoft.com/office/drawing/2014/main" id="{0F466743-6467-F966-0E7C-F57FB3FE6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6050" y="1331913"/>
            <a:ext cx="0" cy="4773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87" name="Line 21">
            <a:extLst>
              <a:ext uri="{FF2B5EF4-FFF2-40B4-BE49-F238E27FC236}">
                <a16:creationId xmlns:a16="http://schemas.microsoft.com/office/drawing/2014/main" id="{1731C056-D9AC-FBB3-56E3-8AC059743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331913"/>
            <a:ext cx="0" cy="4754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88" name="AutoShape 22">
            <a:extLst>
              <a:ext uri="{FF2B5EF4-FFF2-40B4-BE49-F238E27FC236}">
                <a16:creationId xmlns:a16="http://schemas.microsoft.com/office/drawing/2014/main" id="{BB2F8689-35FB-F772-F46E-D33DAFE8F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981200"/>
            <a:ext cx="1905000" cy="457200"/>
          </a:xfrm>
          <a:prstGeom prst="homePlate">
            <a:avLst>
              <a:gd name="adj" fmla="val 104167"/>
            </a:avLst>
          </a:prstGeom>
          <a:noFill/>
          <a:ln w="571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3689" name="AutoShape 23">
            <a:extLst>
              <a:ext uri="{FF2B5EF4-FFF2-40B4-BE49-F238E27FC236}">
                <a16:creationId xmlns:a16="http://schemas.microsoft.com/office/drawing/2014/main" id="{33A4DA33-75DC-9F1C-EA8F-D04022751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52800"/>
            <a:ext cx="1905000" cy="457200"/>
          </a:xfrm>
          <a:prstGeom prst="homePlate">
            <a:avLst>
              <a:gd name="adj" fmla="val 104167"/>
            </a:avLst>
          </a:prstGeom>
          <a:noFill/>
          <a:ln w="571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3690" name="AutoShape 24">
            <a:extLst>
              <a:ext uri="{FF2B5EF4-FFF2-40B4-BE49-F238E27FC236}">
                <a16:creationId xmlns:a16="http://schemas.microsoft.com/office/drawing/2014/main" id="{78565BB0-7EE5-2829-48A7-9EC6BBBE5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800600"/>
            <a:ext cx="1905000" cy="457200"/>
          </a:xfrm>
          <a:prstGeom prst="homePlate">
            <a:avLst>
              <a:gd name="adj" fmla="val 104167"/>
            </a:avLst>
          </a:prstGeom>
          <a:noFill/>
          <a:ln w="571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3691" name="Line 21">
            <a:extLst>
              <a:ext uri="{FF2B5EF4-FFF2-40B4-BE49-F238E27FC236}">
                <a16:creationId xmlns:a16="http://schemas.microsoft.com/office/drawing/2014/main" id="{2208BBB9-4E79-7368-12AD-5FA8D5A774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6950" y="1350963"/>
            <a:ext cx="0" cy="4754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13692" name="Text Box 14">
            <a:extLst>
              <a:ext uri="{FF2B5EF4-FFF2-40B4-BE49-F238E27FC236}">
                <a16:creationId xmlns:a16="http://schemas.microsoft.com/office/drawing/2014/main" id="{0B5853ED-C9F8-74D0-347E-4B1DC78AF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2825" y="1389064"/>
            <a:ext cx="16954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1400">
                <a:solidFill>
                  <a:schemeClr val="accent2"/>
                </a:solidFill>
                <a:latin typeface="Aptos" panose="020B0004020202020204" pitchFamily="34" charset="0"/>
              </a:rPr>
              <a:t>Bærekrafts-messige</a:t>
            </a:r>
            <a:endParaRPr lang="en-GB" altLang="en-US" sz="140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Footer Placeholder 4">
            <a:extLst>
              <a:ext uri="{FF2B5EF4-FFF2-40B4-BE49-F238E27FC236}">
                <a16:creationId xmlns:a16="http://schemas.microsoft.com/office/drawing/2014/main" id="{FDC11AF0-0A8F-8A8E-0731-BB0FD0D0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Metodikk  Harald Skulberg  IDE</a:t>
            </a:r>
          </a:p>
        </p:txBody>
      </p:sp>
      <p:sp>
        <p:nvSpPr>
          <p:cNvPr id="115715" name="Slide Number Placeholder 5">
            <a:extLst>
              <a:ext uri="{FF2B5EF4-FFF2-40B4-BE49-F238E27FC236}">
                <a16:creationId xmlns:a16="http://schemas.microsoft.com/office/drawing/2014/main" id="{6CA86170-9034-8323-7812-60B3EE86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1E077A-724B-48E7-8B5B-120603FA25B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F10A87A1-6831-63E9-CC11-B96B19EA2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nb-NO" altLang="en-US" sz="2800" b="1"/>
              <a:t>Kravspesifikasjon</a:t>
            </a:r>
            <a:endParaRPr lang="en-GB" altLang="en-US" sz="2800" b="1" i="1"/>
          </a:p>
        </p:txBody>
      </p:sp>
      <p:sp>
        <p:nvSpPr>
          <p:cNvPr id="115717" name="Rectangle 3">
            <a:extLst>
              <a:ext uri="{FF2B5EF4-FFF2-40B4-BE49-F238E27FC236}">
                <a16:creationId xmlns:a16="http://schemas.microsoft.com/office/drawing/2014/main" id="{3E62FE74-7A3B-6975-D76B-D84F7359DC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8382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nb-NO" altLang="en-US">
                <a:cs typeface="Times New Roman" panose="02020603050405020304" pitchFamily="18" charset="0"/>
              </a:rPr>
              <a:t>   </a:t>
            </a:r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115718" name="Text Box 34">
            <a:extLst>
              <a:ext uri="{FF2B5EF4-FFF2-40B4-BE49-F238E27FC236}">
                <a16:creationId xmlns:a16="http://schemas.microsoft.com/office/drawing/2014/main" id="{2192E89D-9015-1ADB-0262-AF649F6AA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114801"/>
            <a:ext cx="1449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en-US" sz="1800" b="1">
                <a:solidFill>
                  <a:schemeClr val="bg2"/>
                </a:solidFill>
                <a:latin typeface="Arial Narrow" panose="020B0606020202030204" pitchFamily="34" charset="0"/>
              </a:rPr>
              <a:t>Estetiske krav</a:t>
            </a:r>
          </a:p>
        </p:txBody>
      </p:sp>
      <p:sp>
        <p:nvSpPr>
          <p:cNvPr id="115719" name="Text Box 35">
            <a:extLst>
              <a:ext uri="{FF2B5EF4-FFF2-40B4-BE49-F238E27FC236}">
                <a16:creationId xmlns:a16="http://schemas.microsoft.com/office/drawing/2014/main" id="{2623B9E2-2CBF-AB44-77AE-F7E6451A0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67001"/>
            <a:ext cx="28336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en-US" sz="2000" b="1">
                <a:solidFill>
                  <a:srgbClr val="B2B2B2"/>
                </a:solidFill>
                <a:latin typeface="Arial Narrow" panose="020B0606020202030204" pitchFamily="34" charset="0"/>
              </a:rPr>
              <a:t>            </a:t>
            </a:r>
            <a:r>
              <a:rPr lang="nb-NO" altLang="en-US" sz="1800" b="1">
                <a:solidFill>
                  <a:schemeClr val="bg2"/>
                </a:solidFill>
                <a:latin typeface="Arial Narrow" panose="020B0606020202030204" pitchFamily="34" charset="0"/>
              </a:rPr>
              <a:t>Ergonomiske og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en-US" sz="1800" b="1">
                <a:solidFill>
                  <a:schemeClr val="bg2"/>
                </a:solidFill>
                <a:latin typeface="Arial Narrow" panose="020B0606020202030204" pitchFamily="34" charset="0"/>
              </a:rPr>
              <a:t>brukerfunksjonelle krav</a:t>
            </a:r>
            <a:r>
              <a:rPr lang="nb-NO" altLang="en-US" sz="2000" b="1">
                <a:solidFill>
                  <a:srgbClr val="B2B2B2"/>
                </a:solidFill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15720" name="Text Box 36">
            <a:extLst>
              <a:ext uri="{FF2B5EF4-FFF2-40B4-BE49-F238E27FC236}">
                <a16:creationId xmlns:a16="http://schemas.microsoft.com/office/drawing/2014/main" id="{A2498D28-1381-0D2E-AFD0-96E0CB66A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143001"/>
            <a:ext cx="1428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en-US" sz="1800" b="1">
                <a:solidFill>
                  <a:schemeClr val="bg2"/>
                </a:solidFill>
                <a:latin typeface="Arial Narrow" panose="020B0606020202030204" pitchFamily="34" charset="0"/>
              </a:rPr>
              <a:t>Tekniske krav</a:t>
            </a:r>
          </a:p>
        </p:txBody>
      </p:sp>
      <p:sp>
        <p:nvSpPr>
          <p:cNvPr id="115721" name="Text Box 37">
            <a:extLst>
              <a:ext uri="{FF2B5EF4-FFF2-40B4-BE49-F238E27FC236}">
                <a16:creationId xmlns:a16="http://schemas.microsoft.com/office/drawing/2014/main" id="{FF78164E-5885-C092-6EB0-8873AE5F3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5181601"/>
            <a:ext cx="2481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en-US" sz="1800" b="1">
                <a:solidFill>
                  <a:schemeClr val="bg2"/>
                </a:solidFill>
                <a:latin typeface="Arial Narrow" panose="020B0606020202030204" pitchFamily="34" charset="0"/>
              </a:rPr>
              <a:t>Markedsøkonomiske krav</a:t>
            </a:r>
          </a:p>
        </p:txBody>
      </p:sp>
      <p:graphicFrame>
        <p:nvGraphicFramePr>
          <p:cNvPr id="115722" name="Object 38">
            <a:extLst>
              <a:ext uri="{FF2B5EF4-FFF2-40B4-BE49-F238E27FC236}">
                <a16:creationId xmlns:a16="http://schemas.microsoft.com/office/drawing/2014/main" id="{FD00294F-F1D1-7E88-DE10-1B353CEADB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1143000"/>
          <a:ext cx="5402263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3" imgW="10841736" imgH="11795760" progId="Word.Document.8">
                  <p:embed/>
                </p:oleObj>
              </mc:Choice>
              <mc:Fallback>
                <p:oleObj name="Dokument" r:id="rId3" imgW="10841736" imgH="11795760" progId="Word.Document.8">
                  <p:embed/>
                  <p:pic>
                    <p:nvPicPr>
                      <p:cNvPr id="115722" name="Object 38">
                        <a:extLst>
                          <a:ext uri="{FF2B5EF4-FFF2-40B4-BE49-F238E27FC236}">
                            <a16:creationId xmlns:a16="http://schemas.microsoft.com/office/drawing/2014/main" id="{FD00294F-F1D1-7E88-DE10-1B353CEAD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5808" b="26822"/>
                      <a:stretch>
                        <a:fillRect/>
                      </a:stretch>
                    </p:blipFill>
                    <p:spPr bwMode="auto">
                      <a:xfrm>
                        <a:off x="4800601" y="1143000"/>
                        <a:ext cx="5402263" cy="571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4" name="Text Box 40">
            <a:extLst>
              <a:ext uri="{FF2B5EF4-FFF2-40B4-BE49-F238E27FC236}">
                <a16:creationId xmlns:a16="http://schemas.microsoft.com/office/drawing/2014/main" id="{0AEDD555-B256-397B-8441-15FF06B90652}"/>
              </a:ext>
            </a:extLst>
          </p:cNvPr>
          <p:cNvSpPr txBox="1">
            <a:spLocks noChangeArrowheads="1"/>
          </p:cNvSpPr>
          <p:nvPr/>
        </p:nvSpPr>
        <p:spPr bwMode="auto">
          <a:xfrm rot="19796084">
            <a:off x="8493663" y="921866"/>
            <a:ext cx="220713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nb-NO" altLang="en-US" sz="2400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</a:rPr>
              <a:t>Eksempel: Bilstøvsuger</a:t>
            </a:r>
            <a:endParaRPr lang="en-GB" altLang="en-US" sz="2400" dirty="0">
              <a:solidFill>
                <a:schemeClr val="accent2">
                  <a:lumMod val="75000"/>
                </a:schemeClr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561E63E1B4324FA15DCD0D2B7E44B8" ma:contentTypeVersion="10" ma:contentTypeDescription="Create a new document." ma:contentTypeScope="" ma:versionID="a571d1632eaae05fcbd26a44e12c7454">
  <xsd:schema xmlns:xsd="http://www.w3.org/2001/XMLSchema" xmlns:xs="http://www.w3.org/2001/XMLSchema" xmlns:p="http://schemas.microsoft.com/office/2006/metadata/properties" xmlns:ns2="01f35310-251e-43ba-9ebe-351883f26b63" xmlns:ns3="26cb69cd-a5bb-4c5d-84cd-344eb6f20a11" targetNamespace="http://schemas.microsoft.com/office/2006/metadata/properties" ma:root="true" ma:fieldsID="df33e7edfae9924868082aea06dc2a47" ns2:_="" ns3:_="">
    <xsd:import namespace="01f35310-251e-43ba-9ebe-351883f26b63"/>
    <xsd:import namespace="26cb69cd-a5bb-4c5d-84cd-344eb6f20a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f35310-251e-43ba-9ebe-351883f26b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e890ff-9720-4b21-a515-9806f1579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cb69cd-a5bb-4c5d-84cd-344eb6f20a1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8ad3c94-3917-4063-9d37-229cca086c77}" ma:internalName="TaxCatchAll" ma:showField="CatchAllData" ma:web="26cb69cd-a5bb-4c5d-84cd-344eb6f20a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6cb69cd-a5bb-4c5d-84cd-344eb6f20a11" xsi:nil="true"/>
    <lcf76f155ced4ddcb4097134ff3c332f xmlns="01f35310-251e-43ba-9ebe-351883f26b6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BE16E9-0767-4013-BCB9-DE16796E83D2}"/>
</file>

<file path=customXml/itemProps2.xml><?xml version="1.0" encoding="utf-8"?>
<ds:datastoreItem xmlns:ds="http://schemas.openxmlformats.org/officeDocument/2006/customXml" ds:itemID="{B781FE83-DDBA-48D5-9393-FB1E8525EDB7}"/>
</file>

<file path=customXml/itemProps3.xml><?xml version="1.0" encoding="utf-8"?>
<ds:datastoreItem xmlns:ds="http://schemas.openxmlformats.org/officeDocument/2006/customXml" ds:itemID="{07B6745E-611D-4F20-A36E-B6999F8D528E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405</Words>
  <Application>Microsoft Office PowerPoint</Application>
  <PresentationFormat>Widescreen</PresentationFormat>
  <Paragraphs>123</Paragraphs>
  <Slides>11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Arial Narrow</vt:lpstr>
      <vt:lpstr>Times New Roman</vt:lpstr>
      <vt:lpstr>Verdana</vt:lpstr>
      <vt:lpstr>Office Theme</vt:lpstr>
      <vt:lpstr>Microsoft Word-dokument</vt:lpstr>
      <vt:lpstr>Kravspesifikasjon</vt:lpstr>
      <vt:lpstr>Kravspesifikasjon</vt:lpstr>
      <vt:lpstr>Kravspesifikasjon</vt:lpstr>
      <vt:lpstr>Kravspesifikasjon</vt:lpstr>
      <vt:lpstr>Kravspesifikasjon</vt:lpstr>
      <vt:lpstr>Kravspesifikasjon</vt:lpstr>
      <vt:lpstr>Kravspesifikasjon</vt:lpstr>
      <vt:lpstr>   Kravspesifikasjon</vt:lpstr>
      <vt:lpstr>Kravspesifikasjon</vt:lpstr>
      <vt:lpstr>Kravspesifikasjon</vt:lpstr>
      <vt:lpstr>Kravspesifikasjon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Harald Skulberg</dc:creator>
  <cp:lastModifiedBy>Harald Skulberg</cp:lastModifiedBy>
  <cp:revision>3</cp:revision>
  <dcterms:created xsi:type="dcterms:W3CDTF">2026-04-16T11:09:01Z</dcterms:created>
  <dcterms:modified xsi:type="dcterms:W3CDTF">2026-04-16T11:14:45Z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0x0101002E561E63E1B4324FA15DCD0D2B7E44B8</vt:lpwstr>
  </property>
</Properties>
</file>